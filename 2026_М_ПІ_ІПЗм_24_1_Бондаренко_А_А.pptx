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Century Gothic Paneuropean" panose="020B0502020202020204" pitchFamily="34" charset="0"/>
      <p:regular r:id="rId26"/>
    </p:embeddedFont>
    <p:embeddedFont>
      <p:font typeface="Century Gothic Paneuropean Bold" panose="020B0702020202020204" pitchFamily="34" charset="0"/>
      <p:regular r:id="rId27"/>
      <p:bold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Bold" panose="020B0806030504020204" pitchFamily="34" charset="0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564" autoAdjust="0"/>
  </p:normalViewPr>
  <p:slideViewPr>
    <p:cSldViewPr>
      <p:cViewPr varScale="1">
        <p:scale>
          <a:sx n="81" d="100"/>
          <a:sy n="81" d="100"/>
        </p:scale>
        <p:origin x="22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Шановний голово, шановні члени екзаменаційної комісії!</a:t>
            </a: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вашої уваги пропонується кваліфікаційна робота магістра на тему: «Дослідження методів штучного інтелекту для побудови адаптивних траєкторій навчання в умовах дистанційної освіти».</a:t>
            </a:r>
            <a:r>
              <a:rPr lang="en-UA" dirty="0">
                <a:effectLst/>
              </a:rPr>
              <a:t> </a:t>
            </a:r>
            <a:endParaRPr lang="uk-UA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52146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Традиційна освітня модель та сучасні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LMS 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орієнтовані на так званого «середнього» здобувача освіти, що призводить до ігнорування індивідуальних освітніх потреб. Підхід типу «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one-size-fits-all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втрачає ефективність у дистанційному форматі, оскільки не враховується індивідуальна динаміка засвоєння знань. Вирішення цієї проблеми вимагає впровадження гнучких інтелектуальних рішень.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Тому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Об’єктом дослідження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став процес побудови адаптивних траєкторій навчання в умовах дистанційної освіти.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</a:t>
            </a:r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предметом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методи штучного інтелекту та моделі відстеження знань для побудови адаптивних траєкторій навчання в умовах дистанційної освіти.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Метою дослідження було обґрунтувати методи штучного інтелекту, які дозволять системі підлаштовуватися під кожного студента індивідуально в реальному часі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Аналіз літератури ми розділили на три фундаментальні напрями. Перший — це педагогічна теорія. Аналізуючи праці науковців, ми бачимо, що вони довели, що класичний підхід один для всіх в умовах дистанційної освіти втрачає свою ефективність.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Встановлено, що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дослідження мають суттєвий недолік для нас як інженерів: вони зосереджені виключно на дидактичних вимогах і не пропонують конкретних математичних алгоритмів для реалізації цих ідей.</a:t>
            </a:r>
            <a:r>
              <a:rPr lang="en-UA" dirty="0">
                <a:effectLst/>
              </a:rPr>
              <a:t> 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2721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Другим напрямом стало звернення до класичних моделей відстеження знань, зокрема BKT. Головною перевагою таких моделей є абсолютна прозорість логіки рішень, так звана «біла скринька». Але слабке місце полягає в тому, що моделювання навичок відбувається ізольовано, ігноруються перехресні зв'язки між різними темами.</a:t>
            </a:r>
            <a:r>
              <a:rPr lang="en-UA" dirty="0">
                <a:effectLst/>
              </a:rPr>
              <a:t> 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9198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Третій напрям передбачав огляд сучасних методів штучного інтелекту. Дослідники запропонували застосування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архітектур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LSTM та SAKT. Завдяки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нейромережам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вдалося досягти високої точності та виявляти складні нелінійні залежності. Але </a:t>
            </a:r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виявлено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головні обмеження — це проблема «чорної скриньки» та критична потреба 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A" dirty="0">
                <a:effectLst/>
              </a:rPr>
              <a:t> 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4871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Підсумовуючи наш аналіз</a:t>
            </a:r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необхідно зазначити: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педагогіка вимагає відтворити «інтерактивний діалог» між студентом і системою за допомогою безперервного моніторингу. Проте перетворення цих теоретичних концепцій на працюючі алгоритми залишається викликом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3479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Отже, перед нами постала низка задач, серед </a:t>
            </a:r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яких ключовою є: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розробка підходу до формування адаптивної траєкторії навчання.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Прошу звернути увагу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що розробка повноцінної системи управління навчанням, виходить за рамки магістерського дослідження.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Тому моя робота зосереджена на розробці та експериментальній перевірці інтелектуального математичного ядра, яке згодом можна інтегрувати в освітню платформу.</a:t>
            </a:r>
            <a:r>
              <a:rPr lang="en-UA" dirty="0">
                <a:effectLst/>
              </a:rPr>
              <a:t> </a:t>
            </a:r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2589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Центральним елементом сучасних адаптивних систем є інтелектуальний модуль відстеження знань (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Tracing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Щоразу, коли студент взаємодіє з системою, модуль оновлює його прихований профіль знань. Саме ці розрахунки дозволяють системі прийняти рішення щодо коригування подальшої навчальної траєкторії індивідуально для кожного студента.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вибору оптимального алгоритму ми застосовували низку методів, наведених на слайді. Серед них методи теорії прийняття рішень, зокрема багатокритеріальний аналіз. Ми порівняли 5 підходів штучного інтелекту (від простих дерев рішень до навчання з підкріпленням).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Математично доведено, що для розробки ядра найкраще підходить новітня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трансформерна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SAKT, а еталоном для порівняння ми обрали класичну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марковську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BKT. </a:t>
            </a: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Наша гіпотеза полягала в тому, що сучасний механізм «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самоуваги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 виправдає свою інженерну складність і перевершить класичні підходи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класична модель, і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нейромережа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навчалися та тестувалися на ідентичному масиві реальних освітніх даних. Базовим став відомий світовий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датасет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ASSISTments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2017.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Оскільки моделі мають принципово різну математичну природу, приділено особливу увагу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препроцесингу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нейромережі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SAKT історію дій студента було розбито на часові вікна фіксованої довжини. А для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марковської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 BKT дані трансформувалися у формат кортежів "користувач – навичка – правильність".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Ефективність вимірювалася трьома метриками: площею під кривою (AUC), загальною точністю (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та, що найважливіше, метрикою F1-score.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Основна модель SAKT побудована на механізмі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такому ж, як у моделях типу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ChatGPT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Вона паралельно аналізує всю історію студента і знаходить приховані, нелінійні перехресні зв'язки. Наприклад, алгоритм може виявити, що слабка оцінка з фізики пов'язана з тим, що студент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попердньо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погано засвоїв тему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дробів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алгебри.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Класична BKT розглядає навички як ізольовані ланцюги Маркова і оцінює стан суто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бінарно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(засвоєно або ні). Вона абсолютно прозора для викладачів, але не бачить загального контексту.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 наше порівняння було методологічно обґрунтованим, ми реалізували не тільки базову версію BKT. Ми виконали її інженерну оптимізацію: додали до неї фактор «забування» навичок та налаштували автоматичний підбір її 5 параметрів за допомогою алгоритму максимізації очікування (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Expectation-Maximization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ТЧ Еталон досягнув максимуму своїх можливостей.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Увесь програмний комплекс було реалізовано мовою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із застосуванням фреймворку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Обчислення та крос-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датасетна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валідація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проводилися у середовищі на базі архітектури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Silicon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M4. Для запобігання перенавчанню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нейромережі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ми застосували механізм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Stopping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 довести, що прототип працюватиме в реальному житті, ми провели крос-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датасетну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валідацію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одразу на 3 наборах даних. Найменший мав 340 тисяч дій, а найбільший (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EdNet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95 мільйонів навчальних взаємодій.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Окрему увагу приділено метрикам. Окрім стандартних метрик прогностичної точності (AUC та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було додано критично важливу метрику F1-score через природний дисбаланс класів в освітніх даних.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Експериментальна частина складалася з чотирьох етапів.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Базова перевірка та вже згадана оптимізація еталону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BKT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Далі стабілізували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нейромережу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SAKT п'ятьма незалежними запусками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із випадковою ініціалізацією ваг.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етапі вимірювання ми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агрегували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результати всіх п'яти запусків, вираховуючи середнє арифметичне та стандартне відхилення.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Фінальним етапом стала математична оцінка достовірності результатів.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Перейдемо до результатів і звернемо увагу на графіки ROC-кривих. Оптимізована класична модель BKT покращила свою точність на 3,5%, досягнувши архітектурної стелі у 0.60 AUC.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Проте на графіку чітко видно, що крива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нейромережі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SAKT стабільно розташована вище і показує результат 0.666, що забезпечує значний для цієї галузі приріст у 0.06 AUC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Але найголовніше — це робота в стресових умовах. У всіх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датасетах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простежується  дисбаланс: близько 65% відповідей правильні. Через це базова точність (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може бути оманливою: адже модель могла б просто завжди прогнозувати варіант «правильно» і все одно мати точність 65%.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Саме тому вирішальною стала  метрика F1-score на масштабному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датасеті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EdNet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У розширеної BKT вона впала до 0.59, а у SAKT склала 0.79. Це доводить, що система реально аналізує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патерни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студента, а не просто вгадує статистичну більшість</a:t>
            </a:r>
            <a:r>
              <a:rPr lang="en-UA" dirty="0">
                <a:effectLst/>
              </a:rPr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 провели статистичну перевірку за допомогою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-критерію Стьюдента. Значення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склало менше 0.0001 (однієї десятитисячної), що математично доводить: відрив нашої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нейромережі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є закономірністю, а не випадковістю.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Отже, гіпотезу підтверджено. Класичні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марковські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моделі, хоч і прозорі, але досягли свого ліміту і не підходять для складних дистанційних курсів із перехресними темами.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Усі ключові результати пройшли апробацію науковою спільнотою і готуються до публікації на двох міжнародних науково-практичних конференціях, зокрема на Міжнародному Молодіжному Форумі «Радіоелектроніка та молодь у ХХІ столітті» та конференції MIT&amp;AIS-2026.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Підсумовуючи, хочу наголосити на цінності результатів роботи. Ми створили не просто теоретичний концепт, а стійкий, масштабований програмний прототип модуля відстеження знань.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 алгоритмічний фундамент, готовий для розширення, щоб алгоритми індивідуально підбирали контент під кожного студента. 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Щодо подальшого розвитку проєкту. Наступним етапом ми бачимо інтеграцію Великих 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мовних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моделей (</a:t>
            </a:r>
            <a:r>
              <a:rPr lang="uk-U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LLMs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Це дозволить системі аналізувати не лише сам факт помилки, але й семантичний текст запитання та емоційний контекст і мотивацію студента, щоб траєкторія навчання стала ще більш персоналізованою.</a:t>
            </a:r>
            <a:r>
              <a:rPr lang="en-UA" dirty="0">
                <a:effectLst/>
              </a:rPr>
              <a:t> </a:t>
            </a:r>
            <a:endParaRPr lang="uk-UA" dirty="0">
              <a:effectLst/>
            </a:endParaRPr>
          </a:p>
          <a:p>
            <a:endParaRPr lang="uk-UA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Пропоную перейти до демонстрації. </a:t>
            </a: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Доповідь закінчено. Дякую за увагу! </a:t>
            </a:r>
            <a:r>
              <a:rPr lang="uk-U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Готова відповісти на ваші запитання.</a:t>
            </a:r>
            <a:endParaRPr lang="en-U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mitais.com.ua/index.html" TargetMode="External"/><Relationship Id="rId5" Type="http://schemas.openxmlformats.org/officeDocument/2006/relationships/hyperlink" Target="https://nure.ua/konferencii-ta-workshops/mizhnarodnij-molodizhnij-forum-radioelektronika-i-molod-u-hhi-stolitti/xxx-mizhnarodnyj-molodizhnyj-forum-radioelektronika-i-molod-u-khkhi-stolitti" TargetMode="Externa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43812" y="-1485900"/>
            <a:ext cx="11301259" cy="5650629"/>
          </a:xfrm>
          <a:custGeom>
            <a:avLst/>
            <a:gdLst/>
            <a:ahLst/>
            <a:cxnLst/>
            <a:rect l="l" t="t" r="r" b="b"/>
            <a:pathLst>
              <a:path w="11301259" h="5650629">
                <a:moveTo>
                  <a:pt x="0" y="0"/>
                </a:moveTo>
                <a:lnTo>
                  <a:pt x="11301259" y="0"/>
                </a:lnTo>
                <a:lnTo>
                  <a:pt x="11301259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" name="TextBox 3"/>
          <p:cNvSpPr txBox="1"/>
          <p:nvPr/>
        </p:nvSpPr>
        <p:spPr>
          <a:xfrm>
            <a:off x="2634754" y="2433673"/>
            <a:ext cx="13018493" cy="4175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4699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ДОСЛІДЖЕННЯ МЕТОДІВ ШТУЧНОГО ІНТЕЛЕКТУ ДЛЯ                                               ПОБУДОВИ АДАПТИВНИХ ТРАЄКТОРІЙ НАВЧАННЯ </a:t>
            </a:r>
            <a:r>
              <a:rPr lang="en-US" sz="4699" b="1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В</a:t>
            </a:r>
            <a:r>
              <a:rPr lang="en-US" sz="4699" b="1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УМОВАХ ДИСТАНЦІЙНОЇ ОСВІТИ</a:t>
            </a:r>
          </a:p>
        </p:txBody>
      </p:sp>
      <p:sp>
        <p:nvSpPr>
          <p:cNvPr id="7" name="Freeform 7"/>
          <p:cNvSpPr/>
          <p:nvPr/>
        </p:nvSpPr>
        <p:spPr>
          <a:xfrm flipH="1">
            <a:off x="2766356" y="1967015"/>
            <a:ext cx="4233139" cy="1960002"/>
          </a:xfrm>
          <a:custGeom>
            <a:avLst/>
            <a:gdLst/>
            <a:ahLst/>
            <a:cxnLst/>
            <a:rect l="l" t="t" r="r" b="b"/>
            <a:pathLst>
              <a:path w="4233139" h="1960002">
                <a:moveTo>
                  <a:pt x="4233138" y="0"/>
                </a:moveTo>
                <a:lnTo>
                  <a:pt x="0" y="0"/>
                </a:lnTo>
                <a:lnTo>
                  <a:pt x="0" y="1960002"/>
                </a:lnTo>
                <a:lnTo>
                  <a:pt x="4233138" y="1960002"/>
                </a:lnTo>
                <a:lnTo>
                  <a:pt x="423313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746" b="-101013"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 flipH="1">
            <a:off x="11420108" y="4899063"/>
            <a:ext cx="4233139" cy="1960002"/>
          </a:xfrm>
          <a:custGeom>
            <a:avLst/>
            <a:gdLst/>
            <a:ahLst/>
            <a:cxnLst/>
            <a:rect l="l" t="t" r="r" b="b"/>
            <a:pathLst>
              <a:path w="4233139" h="1960002">
                <a:moveTo>
                  <a:pt x="4233138" y="0"/>
                </a:moveTo>
                <a:lnTo>
                  <a:pt x="0" y="0"/>
                </a:lnTo>
                <a:lnTo>
                  <a:pt x="0" y="1960002"/>
                </a:lnTo>
                <a:lnTo>
                  <a:pt x="4233138" y="1960002"/>
                </a:lnTo>
                <a:lnTo>
                  <a:pt x="423313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746" b="-101013"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>
            <a:off x="14210642" y="-161240"/>
            <a:ext cx="3375717" cy="2379880"/>
          </a:xfrm>
          <a:custGeom>
            <a:avLst/>
            <a:gdLst/>
            <a:ahLst/>
            <a:cxnLst/>
            <a:rect l="l" t="t" r="r" b="b"/>
            <a:pathLst>
              <a:path w="3375717" h="2379880">
                <a:moveTo>
                  <a:pt x="0" y="0"/>
                </a:moveTo>
                <a:lnTo>
                  <a:pt x="3375717" y="0"/>
                </a:lnTo>
                <a:lnTo>
                  <a:pt x="3375717" y="2379880"/>
                </a:lnTo>
                <a:lnTo>
                  <a:pt x="0" y="2379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1" name="TextBox 11"/>
          <p:cNvSpPr txBox="1"/>
          <p:nvPr/>
        </p:nvSpPr>
        <p:spPr>
          <a:xfrm>
            <a:off x="5014527" y="7180077"/>
            <a:ext cx="8522150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Бондаренко А.А., ІПЗм-24-1</a:t>
            </a:r>
          </a:p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Науковий керівник: доц. Лещинський В.О.</a:t>
            </a:r>
          </a:p>
          <a:p>
            <a:pPr algn="ctr">
              <a:lnSpc>
                <a:spcPts val="4199"/>
              </a:lnSpc>
            </a:pPr>
            <a:endParaRPr lang="en-US" sz="2999" b="1">
              <a:solidFill>
                <a:srgbClr val="000000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769149" y="8612982"/>
            <a:ext cx="852215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15 травня 2026</a:t>
            </a: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670126D1-811A-477F-3DFD-53C73ABEF43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506AB9D7-CE39-4165-C33A-B9E65FF9D457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DF46856D-EB32-0EEE-183C-AF63F9952F02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10">
            <a:extLst>
              <a:ext uri="{FF2B5EF4-FFF2-40B4-BE49-F238E27FC236}">
                <a16:creationId xmlns:a16="http://schemas.microsoft.com/office/drawing/2014/main" id="{AFFE5BB8-1EB0-76BC-3B6B-518422D5826D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801767"/>
            <a:chOff x="0" y="0"/>
            <a:chExt cx="3942246" cy="2402356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228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2</a:t>
              </a:r>
            </a:p>
            <a:p>
              <a:pPr algn="ctr">
                <a:lnSpc>
                  <a:spcPts val="7000"/>
                </a:lnSpc>
              </a:pPr>
              <a:endParaRPr lang="en-US" sz="500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ДОСЛІДЖЕННЯ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91209" y="2268415"/>
            <a:ext cx="7968091" cy="2875085"/>
            <a:chOff x="0" y="0"/>
            <a:chExt cx="2098592" cy="757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98592" cy="757224"/>
            </a:xfrm>
            <a:custGeom>
              <a:avLst/>
              <a:gdLst/>
              <a:ahLst/>
              <a:cxnLst/>
              <a:rect l="l" t="t" r="r" b="b"/>
              <a:pathLst>
                <a:path w="2098592" h="757224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707672"/>
                  </a:lnTo>
                  <a:cubicBezTo>
                    <a:pt x="2098592" y="735039"/>
                    <a:pt x="2076407" y="757224"/>
                    <a:pt x="2049039" y="757224"/>
                  </a:cubicBezTo>
                  <a:lnTo>
                    <a:pt x="49552" y="757224"/>
                  </a:lnTo>
                  <a:cubicBezTo>
                    <a:pt x="36410" y="757224"/>
                    <a:pt x="23806" y="752003"/>
                    <a:pt x="14514" y="742710"/>
                  </a:cubicBezTo>
                  <a:cubicBezTo>
                    <a:pt x="5221" y="733418"/>
                    <a:pt x="0" y="720814"/>
                    <a:pt x="0" y="707672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098592" cy="795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2268415"/>
            <a:ext cx="7968091" cy="5286210"/>
            <a:chOff x="0" y="0"/>
            <a:chExt cx="2098592" cy="139225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8592" cy="1392253"/>
            </a:xfrm>
            <a:custGeom>
              <a:avLst/>
              <a:gdLst/>
              <a:ahLst/>
              <a:cxnLst/>
              <a:rect l="l" t="t" r="r" b="b"/>
              <a:pathLst>
                <a:path w="2098592" h="1392253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1342701"/>
                  </a:lnTo>
                  <a:cubicBezTo>
                    <a:pt x="2098592" y="1370068"/>
                    <a:pt x="2076407" y="1392253"/>
                    <a:pt x="2049039" y="1392253"/>
                  </a:cubicBezTo>
                  <a:lnTo>
                    <a:pt x="49552" y="1392253"/>
                  </a:lnTo>
                  <a:cubicBezTo>
                    <a:pt x="36410" y="1392253"/>
                    <a:pt x="23806" y="1387032"/>
                    <a:pt x="14514" y="1377739"/>
                  </a:cubicBezTo>
                  <a:cubicBezTo>
                    <a:pt x="5221" y="1368447"/>
                    <a:pt x="0" y="1355843"/>
                    <a:pt x="0" y="1342701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098592" cy="1449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91209" y="5495772"/>
            <a:ext cx="7968091" cy="2875085"/>
            <a:chOff x="0" y="0"/>
            <a:chExt cx="2098592" cy="7572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98592" cy="757224"/>
            </a:xfrm>
            <a:custGeom>
              <a:avLst/>
              <a:gdLst/>
              <a:ahLst/>
              <a:cxnLst/>
              <a:rect l="l" t="t" r="r" b="b"/>
              <a:pathLst>
                <a:path w="2098592" h="757224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707672"/>
                  </a:lnTo>
                  <a:cubicBezTo>
                    <a:pt x="2098592" y="735039"/>
                    <a:pt x="2076407" y="757224"/>
                    <a:pt x="2049039" y="757224"/>
                  </a:cubicBezTo>
                  <a:lnTo>
                    <a:pt x="49552" y="757224"/>
                  </a:lnTo>
                  <a:cubicBezTo>
                    <a:pt x="36410" y="757224"/>
                    <a:pt x="23806" y="752003"/>
                    <a:pt x="14514" y="742710"/>
                  </a:cubicBezTo>
                  <a:cubicBezTo>
                    <a:pt x="5221" y="733418"/>
                    <a:pt x="0" y="720814"/>
                    <a:pt x="0" y="707672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98592" cy="795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2217" y="2577118"/>
            <a:ext cx="7461057" cy="461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14"/>
              </a:lnSpc>
              <a:spcBef>
                <a:spcPct val="0"/>
              </a:spcBef>
            </a:pPr>
            <a:r>
              <a:rPr lang="en-US" sz="293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Об’єкт дослідження </a:t>
            </a:r>
            <a:r>
              <a:rPr lang="en-US" sz="29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 процес побудови адаптивних траєкторій навчання в умовах дистанційної освіти.</a:t>
            </a:r>
          </a:p>
          <a:p>
            <a:pPr algn="just">
              <a:lnSpc>
                <a:spcPts val="4114"/>
              </a:lnSpc>
              <a:spcBef>
                <a:spcPct val="0"/>
              </a:spcBef>
            </a:pPr>
            <a:endParaRPr lang="en-US" sz="2938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4114"/>
              </a:lnSpc>
              <a:spcBef>
                <a:spcPct val="0"/>
              </a:spcBef>
            </a:pPr>
            <a:r>
              <a:rPr lang="en-US" sz="293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Предмет дослідження – </a:t>
            </a:r>
            <a:r>
              <a:rPr lang="en-US" sz="29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методи штучного інтелекту та моделі відстеження знань для побудови адаптивних траєкторій навчання в умовах дистанційної освіти.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0751" y="2304262"/>
            <a:ext cx="7349007" cy="319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Стан галузі: </a:t>
            </a:r>
            <a:r>
              <a:rPr lang="en-US" sz="2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організація дистанційного навчання потребує використання автоматизованих навчальних систем, платформ і технологій, здатних підвищити ефективність засвоєння знань та формування вмінь і навичок 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600751" y="5438622"/>
            <a:ext cx="7461057" cy="2554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14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4114"/>
              </a:lnSpc>
              <a:spcBef>
                <a:spcPct val="0"/>
              </a:spcBef>
            </a:pPr>
            <a:r>
              <a:rPr lang="en-US" sz="2938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Метою роботи</a:t>
            </a:r>
            <a:r>
              <a:rPr lang="en-US" sz="29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є обґрунтування методів штучного інтелекту для побудови адаптивних траєкторій навчання в умовах дистанційної освіти.</a:t>
            </a: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1F9E1EE1-0860-2064-F25F-D1EEFE75F1BA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A7255F12-E18F-56CB-8AD4-1552B8696B0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483627CC-58D9-F133-C3DC-938024F91F27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Freeform 10">
            <a:extLst>
              <a:ext uri="{FF2B5EF4-FFF2-40B4-BE49-F238E27FC236}">
                <a16:creationId xmlns:a16="http://schemas.microsoft.com/office/drawing/2014/main" id="{EB0E9A43-E3D0-03CF-5444-3B8B7854C627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8567" y="2652600"/>
            <a:ext cx="827490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Теорія адаптивних освітніх траєкторій та персоналізації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890967" y="2929807"/>
            <a:ext cx="5714664" cy="1626004"/>
          </a:xfrm>
          <a:custGeom>
            <a:avLst/>
            <a:gdLst/>
            <a:ahLst/>
            <a:cxnLst/>
            <a:rect l="l" t="t" r="r" b="b"/>
            <a:pathLst>
              <a:path w="5714664" h="1626004">
                <a:moveTo>
                  <a:pt x="0" y="0"/>
                </a:moveTo>
                <a:lnTo>
                  <a:pt x="5714664" y="0"/>
                </a:lnTo>
                <a:lnTo>
                  <a:pt x="5714664" y="1626004"/>
                </a:lnTo>
                <a:lnTo>
                  <a:pt x="0" y="1626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289" b="-322332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4" name="Freeform 14"/>
          <p:cNvSpPr/>
          <p:nvPr/>
        </p:nvSpPr>
        <p:spPr>
          <a:xfrm>
            <a:off x="10912940" y="4955028"/>
            <a:ext cx="5692691" cy="1556275"/>
          </a:xfrm>
          <a:custGeom>
            <a:avLst/>
            <a:gdLst/>
            <a:ahLst/>
            <a:cxnLst/>
            <a:rect l="l" t="t" r="r" b="b"/>
            <a:pathLst>
              <a:path w="5692691" h="1556275">
                <a:moveTo>
                  <a:pt x="0" y="0"/>
                </a:moveTo>
                <a:lnTo>
                  <a:pt x="5692691" y="0"/>
                </a:lnTo>
                <a:lnTo>
                  <a:pt x="5692691" y="1556275"/>
                </a:lnTo>
                <a:lnTo>
                  <a:pt x="0" y="1556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559" t="-71678" r="-16076" b="-500939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5" name="Freeform 15"/>
          <p:cNvSpPr/>
          <p:nvPr/>
        </p:nvSpPr>
        <p:spPr>
          <a:xfrm>
            <a:off x="10890967" y="6910520"/>
            <a:ext cx="5740583" cy="1288209"/>
          </a:xfrm>
          <a:custGeom>
            <a:avLst/>
            <a:gdLst/>
            <a:ahLst/>
            <a:cxnLst/>
            <a:rect l="l" t="t" r="r" b="b"/>
            <a:pathLst>
              <a:path w="5740583" h="1288209">
                <a:moveTo>
                  <a:pt x="0" y="0"/>
                </a:moveTo>
                <a:lnTo>
                  <a:pt x="5740584" y="0"/>
                </a:lnTo>
                <a:lnTo>
                  <a:pt x="5740584" y="1288210"/>
                </a:lnTo>
                <a:lnTo>
                  <a:pt x="0" y="1288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Box 16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ОГЛЯД ЛІТЕРАТУРИ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41747" y="3760946"/>
            <a:ext cx="8398052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P. Brusilovsky , В. Демʼяненко, К. Осадча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15398" y="4576475"/>
            <a:ext cx="8398052" cy="297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концептуалізують адаптивну траєкторію як динамічну систему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фокус на гнучкості та персоналізації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лише педагогічні вимоги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відсутні конкретні математичні алгоритми</a:t>
            </a:r>
          </a:p>
        </p:txBody>
      </p:sp>
      <p:grpSp>
        <p:nvGrpSpPr>
          <p:cNvPr id="19" name="Group 2">
            <a:extLst>
              <a:ext uri="{FF2B5EF4-FFF2-40B4-BE49-F238E27FC236}">
                <a16:creationId xmlns:a16="http://schemas.microsoft.com/office/drawing/2014/main" id="{20453A74-8959-D119-A45C-05831A00FDDE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4F9FE6FE-BFF7-6DA4-3C48-6B2C240D4884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9D4D1932-DF58-42C5-EB86-DD2919D497E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10">
            <a:extLst>
              <a:ext uri="{FF2B5EF4-FFF2-40B4-BE49-F238E27FC236}">
                <a16:creationId xmlns:a16="http://schemas.microsoft.com/office/drawing/2014/main" id="{9C6F8520-CEF8-405F-B070-1FB2CCD373CC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4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8567" y="2652600"/>
            <a:ext cx="827490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Ймовірнісне моделювання стану знань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949826" y="2088673"/>
            <a:ext cx="4949804" cy="6936024"/>
          </a:xfrm>
          <a:custGeom>
            <a:avLst/>
            <a:gdLst/>
            <a:ahLst/>
            <a:cxnLst/>
            <a:rect l="l" t="t" r="r" b="b"/>
            <a:pathLst>
              <a:path w="4949804" h="6936024">
                <a:moveTo>
                  <a:pt x="0" y="0"/>
                </a:moveTo>
                <a:lnTo>
                  <a:pt x="4949805" y="0"/>
                </a:lnTo>
                <a:lnTo>
                  <a:pt x="4949805" y="6936024"/>
                </a:lnTo>
                <a:lnTo>
                  <a:pt x="0" y="6936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7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Box 14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ОГЛЯД ЛІТЕРАТУРИ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1747" y="3383397"/>
            <a:ext cx="839805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 Corbett, J. Anderson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5398" y="4253347"/>
            <a:ext cx="8398052" cy="260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марковська модель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зрозумілі параметри, прозорість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проблема ідентифікованості параметрів, 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ігнорування перехресних зв'язків між навичками</a:t>
            </a: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DE208EB9-9E99-FAB7-2284-D0E72E0929CA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097637F1-3467-9609-8BB1-E005225867BA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AB3E189D-2B98-DA80-E1BC-BCAAF3CC9A35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10">
            <a:extLst>
              <a:ext uri="{FF2B5EF4-FFF2-40B4-BE49-F238E27FC236}">
                <a16:creationId xmlns:a16="http://schemas.microsoft.com/office/drawing/2014/main" id="{A4F969E3-FB51-3EE4-D028-AF22E3E8C366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5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38567" y="2652600"/>
            <a:ext cx="8274905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AutoNum type="arabicPeriod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Застосування рекурентних мереж та сучасних трансформерних архітектур 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2709750"/>
            <a:ext cx="8464972" cy="2291360"/>
          </a:xfrm>
          <a:custGeom>
            <a:avLst/>
            <a:gdLst/>
            <a:ahLst/>
            <a:cxnLst/>
            <a:rect l="l" t="t" r="r" b="b"/>
            <a:pathLst>
              <a:path w="8464972" h="2291360">
                <a:moveTo>
                  <a:pt x="0" y="0"/>
                </a:moveTo>
                <a:lnTo>
                  <a:pt x="8464972" y="0"/>
                </a:lnTo>
                <a:lnTo>
                  <a:pt x="8464972" y="2291360"/>
                </a:lnTo>
                <a:lnTo>
                  <a:pt x="0" y="22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4" name="Freeform 14"/>
          <p:cNvSpPr/>
          <p:nvPr/>
        </p:nvSpPr>
        <p:spPr>
          <a:xfrm>
            <a:off x="9144000" y="6096159"/>
            <a:ext cx="8464972" cy="2291360"/>
          </a:xfrm>
          <a:custGeom>
            <a:avLst/>
            <a:gdLst/>
            <a:ahLst/>
            <a:cxnLst/>
            <a:rect l="l" t="t" r="r" b="b"/>
            <a:pathLst>
              <a:path w="8464972" h="2291360">
                <a:moveTo>
                  <a:pt x="0" y="0"/>
                </a:moveTo>
                <a:lnTo>
                  <a:pt x="8464972" y="0"/>
                </a:lnTo>
                <a:lnTo>
                  <a:pt x="8464972" y="2291360"/>
                </a:lnTo>
                <a:lnTo>
                  <a:pt x="0" y="2291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Box 15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ОГЛЯД ЛІТЕРАТУРИ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1747" y="3760946"/>
            <a:ext cx="8398052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C. Piech, S. Padney, G. Karypis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5398" y="4421346"/>
            <a:ext cx="7728602" cy="334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endParaRPr/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виявлення нелінійних залежностей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застосування LSTM та SAKT на абстрактних даних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критичні потреба у Big Data (Data Hunger)</a:t>
            </a:r>
          </a:p>
          <a:p>
            <a:pPr algn="l">
              <a:lnSpc>
                <a:spcPts val="2950"/>
              </a:lnSpc>
            </a:pPr>
            <a:endParaRPr lang="en-US" sz="25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39751" lvl="1" indent="-269876" algn="l">
              <a:lnSpc>
                <a:spcPts val="295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непрозорість рішень</a:t>
            </a:r>
          </a:p>
        </p:txBody>
      </p:sp>
      <p:grpSp>
        <p:nvGrpSpPr>
          <p:cNvPr id="18" name="Group 2">
            <a:extLst>
              <a:ext uri="{FF2B5EF4-FFF2-40B4-BE49-F238E27FC236}">
                <a16:creationId xmlns:a16="http://schemas.microsoft.com/office/drawing/2014/main" id="{F235C7CC-CE92-24E4-BE83-30F114610A22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33CBACBA-76D7-2704-152E-DA1F97EDE905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CDD467CC-2E25-C1EF-57F8-164A65A48650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10">
            <a:extLst>
              <a:ext uri="{FF2B5EF4-FFF2-40B4-BE49-F238E27FC236}">
                <a16:creationId xmlns:a16="http://schemas.microsoft.com/office/drawing/2014/main" id="{FBD61A60-0558-6203-09FC-442BEC51C8B9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6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1" name="TextBox 11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ОГЛЯД ЛІТЕРАТУРИ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165087" y="7554625"/>
            <a:ext cx="13644571" cy="1709398"/>
            <a:chOff x="0" y="0"/>
            <a:chExt cx="3593632" cy="4502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93632" cy="450212"/>
            </a:xfrm>
            <a:custGeom>
              <a:avLst/>
              <a:gdLst/>
              <a:ahLst/>
              <a:cxnLst/>
              <a:rect l="l" t="t" r="r" b="b"/>
              <a:pathLst>
                <a:path w="3593632" h="450212">
                  <a:moveTo>
                    <a:pt x="28937" y="0"/>
                  </a:moveTo>
                  <a:lnTo>
                    <a:pt x="3564694" y="0"/>
                  </a:lnTo>
                  <a:cubicBezTo>
                    <a:pt x="3572369" y="0"/>
                    <a:pt x="3579730" y="3049"/>
                    <a:pt x="3585156" y="8476"/>
                  </a:cubicBezTo>
                  <a:cubicBezTo>
                    <a:pt x="3590583" y="13902"/>
                    <a:pt x="3593632" y="21263"/>
                    <a:pt x="3593632" y="28937"/>
                  </a:cubicBezTo>
                  <a:lnTo>
                    <a:pt x="3593632" y="421274"/>
                  </a:lnTo>
                  <a:cubicBezTo>
                    <a:pt x="3593632" y="428949"/>
                    <a:pt x="3590583" y="436310"/>
                    <a:pt x="3585156" y="441736"/>
                  </a:cubicBezTo>
                  <a:cubicBezTo>
                    <a:pt x="3579730" y="447163"/>
                    <a:pt x="3572369" y="450212"/>
                    <a:pt x="3564694" y="450212"/>
                  </a:cubicBezTo>
                  <a:lnTo>
                    <a:pt x="28937" y="450212"/>
                  </a:lnTo>
                  <a:cubicBezTo>
                    <a:pt x="21263" y="450212"/>
                    <a:pt x="13902" y="447163"/>
                    <a:pt x="8476" y="441736"/>
                  </a:cubicBezTo>
                  <a:cubicBezTo>
                    <a:pt x="3049" y="436310"/>
                    <a:pt x="0" y="428949"/>
                    <a:pt x="0" y="421274"/>
                  </a:cubicBezTo>
                  <a:lnTo>
                    <a:pt x="0" y="28937"/>
                  </a:lnTo>
                  <a:cubicBezTo>
                    <a:pt x="0" y="21263"/>
                    <a:pt x="3049" y="13902"/>
                    <a:pt x="8476" y="8476"/>
                  </a:cubicBezTo>
                  <a:cubicBezTo>
                    <a:pt x="13902" y="3049"/>
                    <a:pt x="21263" y="0"/>
                    <a:pt x="289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593632" cy="507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Більшість праць зосереджені на дидактичних принципах, проте мала кількість теоретичних концепцій перетворюються у працюючі алгоритми. 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Залишаються невирішеними питання “холодного старту”, “чорної скриньки”.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250077" y="3192457"/>
            <a:ext cx="13559581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AutoNum type="arabicPeriod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Перехід від разового тестування до безперервного моніторингу процесу, роль Learning Analytics </a:t>
            </a: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(В.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Демʼяненко, Г. Шмигер)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62208" y="4707253"/>
            <a:ext cx="13547449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spcBef>
                <a:spcPct val="0"/>
              </a:spcBef>
              <a:buAutoNum type="arabicPeriod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Інтелектуалізація (AI in Ed), заміна ручного втручання алгоритмами. Потреба у відтворенні “інтерактивного діалогу” у реальному часі </a:t>
            </a: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(О. Шелевер, Д. Самборська)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ПОСТАНОВКА ЗАДАЧІ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7" name="Group 7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7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711819"/>
            <a:ext cx="7364473" cy="5028394"/>
            <a:chOff x="0" y="0"/>
            <a:chExt cx="1939614" cy="132435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39614" cy="1324351"/>
            </a:xfrm>
            <a:custGeom>
              <a:avLst/>
              <a:gdLst/>
              <a:ahLst/>
              <a:cxnLst/>
              <a:rect l="l" t="t" r="r" b="b"/>
              <a:pathLst>
                <a:path w="1939614" h="1324351">
                  <a:moveTo>
                    <a:pt x="53614" y="0"/>
                  </a:moveTo>
                  <a:lnTo>
                    <a:pt x="1886001" y="0"/>
                  </a:lnTo>
                  <a:cubicBezTo>
                    <a:pt x="1900220" y="0"/>
                    <a:pt x="1913857" y="5649"/>
                    <a:pt x="1923911" y="15703"/>
                  </a:cubicBezTo>
                  <a:cubicBezTo>
                    <a:pt x="1933966" y="25758"/>
                    <a:pt x="1939614" y="39395"/>
                    <a:pt x="1939614" y="53614"/>
                  </a:cubicBezTo>
                  <a:lnTo>
                    <a:pt x="1939614" y="1270737"/>
                  </a:lnTo>
                  <a:cubicBezTo>
                    <a:pt x="1939614" y="1284956"/>
                    <a:pt x="1933966" y="1298593"/>
                    <a:pt x="1923911" y="1308648"/>
                  </a:cubicBezTo>
                  <a:cubicBezTo>
                    <a:pt x="1913857" y="1318702"/>
                    <a:pt x="1900220" y="1324351"/>
                    <a:pt x="1886001" y="1324351"/>
                  </a:cubicBezTo>
                  <a:lnTo>
                    <a:pt x="53614" y="1324351"/>
                  </a:lnTo>
                  <a:cubicBezTo>
                    <a:pt x="39395" y="1324351"/>
                    <a:pt x="25758" y="1318702"/>
                    <a:pt x="15703" y="1308648"/>
                  </a:cubicBezTo>
                  <a:cubicBezTo>
                    <a:pt x="5649" y="1298593"/>
                    <a:pt x="0" y="1284956"/>
                    <a:pt x="0" y="1270737"/>
                  </a:cubicBezTo>
                  <a:lnTo>
                    <a:pt x="0" y="53614"/>
                  </a:lnTo>
                  <a:cubicBezTo>
                    <a:pt x="0" y="39395"/>
                    <a:pt x="5649" y="25758"/>
                    <a:pt x="15703" y="15703"/>
                  </a:cubicBezTo>
                  <a:cubicBezTo>
                    <a:pt x="25758" y="5649"/>
                    <a:pt x="39395" y="0"/>
                    <a:pt x="536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939614" cy="1410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04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2490490"/>
            <a:ext cx="7364473" cy="7159563"/>
            <a:chOff x="0" y="0"/>
            <a:chExt cx="1939614" cy="188564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9614" cy="1885646"/>
            </a:xfrm>
            <a:custGeom>
              <a:avLst/>
              <a:gdLst/>
              <a:ahLst/>
              <a:cxnLst/>
              <a:rect l="l" t="t" r="r" b="b"/>
              <a:pathLst>
                <a:path w="1939614" h="1885646">
                  <a:moveTo>
                    <a:pt x="53614" y="0"/>
                  </a:moveTo>
                  <a:lnTo>
                    <a:pt x="1886001" y="0"/>
                  </a:lnTo>
                  <a:cubicBezTo>
                    <a:pt x="1900220" y="0"/>
                    <a:pt x="1913857" y="5649"/>
                    <a:pt x="1923911" y="15703"/>
                  </a:cubicBezTo>
                  <a:cubicBezTo>
                    <a:pt x="1933966" y="25758"/>
                    <a:pt x="1939614" y="39395"/>
                    <a:pt x="1939614" y="53614"/>
                  </a:cubicBezTo>
                  <a:lnTo>
                    <a:pt x="1939614" y="1832033"/>
                  </a:lnTo>
                  <a:cubicBezTo>
                    <a:pt x="1939614" y="1846252"/>
                    <a:pt x="1933966" y="1859889"/>
                    <a:pt x="1923911" y="1869943"/>
                  </a:cubicBezTo>
                  <a:cubicBezTo>
                    <a:pt x="1913857" y="1879998"/>
                    <a:pt x="1900220" y="1885646"/>
                    <a:pt x="1886001" y="1885646"/>
                  </a:cubicBezTo>
                  <a:lnTo>
                    <a:pt x="53614" y="1885646"/>
                  </a:lnTo>
                  <a:cubicBezTo>
                    <a:pt x="24004" y="1885646"/>
                    <a:pt x="0" y="1861643"/>
                    <a:pt x="0" y="1832033"/>
                  </a:cubicBezTo>
                  <a:lnTo>
                    <a:pt x="0" y="53614"/>
                  </a:lnTo>
                  <a:cubicBezTo>
                    <a:pt x="0" y="39395"/>
                    <a:pt x="5649" y="25758"/>
                    <a:pt x="15703" y="15703"/>
                  </a:cubicBezTo>
                  <a:cubicBezTo>
                    <a:pt x="25758" y="5649"/>
                    <a:pt x="39395" y="0"/>
                    <a:pt x="5361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39614" cy="19427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5338" y="2824110"/>
            <a:ext cx="6911197" cy="475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Більшість існуючих LMS орієнтовані на уніфіковану подачу матеріалу.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Адаптивність у формі фіксованих сценаріїв не враховує: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індивідуальну динаміку засвоєння знань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особистий темп навчання студента</a:t>
            </a:r>
          </a:p>
          <a:p>
            <a:pPr marL="582925" lvl="1" indent="-291463" algn="just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результати попередньої навчальної діяльності</a:t>
            </a: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4167635" y="1183016"/>
            <a:ext cx="781541" cy="2614948"/>
            <a:chOff x="0" y="0"/>
            <a:chExt cx="284633" cy="95234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84633" cy="952349"/>
            </a:xfrm>
            <a:custGeom>
              <a:avLst/>
              <a:gdLst/>
              <a:ahLst/>
              <a:cxnLst/>
              <a:rect l="l" t="t" r="r" b="b"/>
              <a:pathLst>
                <a:path w="284633" h="952349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810033"/>
                  </a:lnTo>
                  <a:cubicBezTo>
                    <a:pt x="284633" y="888632"/>
                    <a:pt x="220916" y="952349"/>
                    <a:pt x="142316" y="952349"/>
                  </a:cubicBezTo>
                  <a:lnTo>
                    <a:pt x="142316" y="952349"/>
                  </a:lnTo>
                  <a:cubicBezTo>
                    <a:pt x="63717" y="952349"/>
                    <a:pt x="0" y="888632"/>
                    <a:pt x="0" y="810033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84633" cy="99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3403015" y="2202623"/>
            <a:ext cx="2310782" cy="43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256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проблема</a:t>
            </a:r>
          </a:p>
        </p:txBody>
      </p:sp>
      <p:grpSp>
        <p:nvGrpSpPr>
          <p:cNvPr id="23" name="Group 23"/>
          <p:cNvGrpSpPr/>
          <p:nvPr/>
        </p:nvGrpSpPr>
        <p:grpSpPr>
          <a:xfrm rot="5400000">
            <a:off x="12380455" y="614569"/>
            <a:ext cx="781541" cy="3751842"/>
            <a:chOff x="0" y="0"/>
            <a:chExt cx="284633" cy="13663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4633" cy="1366399"/>
            </a:xfrm>
            <a:custGeom>
              <a:avLst/>
              <a:gdLst/>
              <a:ahLst/>
              <a:cxnLst/>
              <a:rect l="l" t="t" r="r" b="b"/>
              <a:pathLst>
                <a:path w="284633" h="1366399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1224083"/>
                  </a:lnTo>
                  <a:cubicBezTo>
                    <a:pt x="284633" y="1302682"/>
                    <a:pt x="220916" y="1366399"/>
                    <a:pt x="142316" y="1366399"/>
                  </a:cubicBezTo>
                  <a:lnTo>
                    <a:pt x="142316" y="1366399"/>
                  </a:lnTo>
                  <a:cubicBezTo>
                    <a:pt x="63717" y="1366399"/>
                    <a:pt x="0" y="1302682"/>
                    <a:pt x="0" y="1224083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FDE59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84633" cy="1404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120736" y="2202623"/>
            <a:ext cx="3411002" cy="43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7"/>
              </a:lnSpc>
            </a:pPr>
            <a:r>
              <a:rPr lang="en-US" sz="2569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очікувані результати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67732" y="3078480"/>
            <a:ext cx="6917010" cy="617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розробка та експериментальна перевірка інтелектуального модуля відстеження знань (KT)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автоматизований аналіз освітніх даних користувача та прогнозування його подальшої успішності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створення математичного ядра, яке слугуватиме алгоритмічною базою для подальшого вибору та впорядкування контенту в межах LMS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DB15E62F-435A-EAD0-6ED4-4DCB5AEFEE10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68E35D8E-499D-52E6-5AF7-7FB5A3A91DFB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6B0E0919-AF0A-CFDC-A83F-76EA0B6853D1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10">
            <a:extLst>
              <a:ext uri="{FF2B5EF4-FFF2-40B4-BE49-F238E27FC236}">
                <a16:creationId xmlns:a16="http://schemas.microsoft.com/office/drawing/2014/main" id="{E3E875AA-2985-59A2-0BE7-0D6E8A284AF6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8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1573" y="2667984"/>
            <a:ext cx="2848287" cy="3923538"/>
            <a:chOff x="0" y="0"/>
            <a:chExt cx="3797716" cy="523138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797716" cy="5231384"/>
              <a:chOff x="0" y="0"/>
              <a:chExt cx="1054517" cy="14526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54517" cy="1452606"/>
              </a:xfrm>
              <a:custGeom>
                <a:avLst/>
                <a:gdLst/>
                <a:ahLst/>
                <a:cxnLst/>
                <a:rect l="l" t="t" r="r" b="b"/>
                <a:pathLst>
                  <a:path w="1054517" h="1452606">
                    <a:moveTo>
                      <a:pt x="98614" y="0"/>
                    </a:moveTo>
                    <a:lnTo>
                      <a:pt x="955903" y="0"/>
                    </a:lnTo>
                    <a:cubicBezTo>
                      <a:pt x="1010366" y="0"/>
                      <a:pt x="1054517" y="44151"/>
                      <a:pt x="1054517" y="98614"/>
                    </a:cubicBezTo>
                    <a:lnTo>
                      <a:pt x="1054517" y="1353991"/>
                    </a:lnTo>
                    <a:cubicBezTo>
                      <a:pt x="1054517" y="1408455"/>
                      <a:pt x="1010366" y="1452606"/>
                      <a:pt x="955903" y="1452606"/>
                    </a:cubicBezTo>
                    <a:lnTo>
                      <a:pt x="98614" y="1452606"/>
                    </a:lnTo>
                    <a:cubicBezTo>
                      <a:pt x="44151" y="1452606"/>
                      <a:pt x="0" y="1408455"/>
                      <a:pt x="0" y="1353991"/>
                    </a:cubicBezTo>
                    <a:lnTo>
                      <a:pt x="0" y="98614"/>
                    </a:lnTo>
                    <a:cubicBezTo>
                      <a:pt x="0" y="44151"/>
                      <a:pt x="44151" y="0"/>
                      <a:pt x="98614" y="0"/>
                    </a:cubicBezTo>
                    <a:close/>
                  </a:path>
                </a:pathLst>
              </a:custGeom>
              <a:solidFill>
                <a:srgbClr val="FFD4D4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54517" cy="14907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05206" y="4013977"/>
              <a:ext cx="2987305" cy="876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9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Cтудент виконує завдання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 flipV="1">
            <a:off x="4089859" y="4629753"/>
            <a:ext cx="1628062" cy="0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sp>
        <p:nvSpPr>
          <p:cNvPr id="17" name="Freeform 17"/>
          <p:cNvSpPr/>
          <p:nvPr/>
        </p:nvSpPr>
        <p:spPr>
          <a:xfrm>
            <a:off x="9272782" y="4629753"/>
            <a:ext cx="706573" cy="0"/>
          </a:xfrm>
          <a:custGeom>
            <a:avLst/>
            <a:gdLst/>
            <a:ahLst/>
            <a:cxnLst/>
            <a:rect l="l" t="t" r="r" b="b"/>
            <a:pathLst>
              <a:path w="706573">
                <a:moveTo>
                  <a:pt x="0" y="0"/>
                </a:moveTo>
                <a:lnTo>
                  <a:pt x="706573" y="0"/>
                </a:lnTo>
              </a:path>
            </a:pathLst>
          </a:cu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grpSp>
        <p:nvGrpSpPr>
          <p:cNvPr id="18" name="Group 18"/>
          <p:cNvGrpSpPr/>
          <p:nvPr/>
        </p:nvGrpSpPr>
        <p:grpSpPr>
          <a:xfrm>
            <a:off x="5717922" y="2667984"/>
            <a:ext cx="2848287" cy="3923538"/>
            <a:chOff x="0" y="0"/>
            <a:chExt cx="1054517" cy="14526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4517" cy="1452606"/>
            </a:xfrm>
            <a:custGeom>
              <a:avLst/>
              <a:gdLst/>
              <a:ahLst/>
              <a:cxnLst/>
              <a:rect l="l" t="t" r="r" b="b"/>
              <a:pathLst>
                <a:path w="1054517" h="1452606">
                  <a:moveTo>
                    <a:pt x="138623" y="0"/>
                  </a:moveTo>
                  <a:lnTo>
                    <a:pt x="915894" y="0"/>
                  </a:lnTo>
                  <a:cubicBezTo>
                    <a:pt x="952659" y="0"/>
                    <a:pt x="987918" y="14605"/>
                    <a:pt x="1013915" y="40602"/>
                  </a:cubicBezTo>
                  <a:cubicBezTo>
                    <a:pt x="1039912" y="66599"/>
                    <a:pt x="1054517" y="101858"/>
                    <a:pt x="1054517" y="138623"/>
                  </a:cubicBezTo>
                  <a:lnTo>
                    <a:pt x="1054517" y="1313983"/>
                  </a:lnTo>
                  <a:cubicBezTo>
                    <a:pt x="1054517" y="1350748"/>
                    <a:pt x="1039912" y="1386007"/>
                    <a:pt x="1013915" y="1412004"/>
                  </a:cubicBezTo>
                  <a:cubicBezTo>
                    <a:pt x="987918" y="1438001"/>
                    <a:pt x="952659" y="1452606"/>
                    <a:pt x="915894" y="1452606"/>
                  </a:cubicBezTo>
                  <a:lnTo>
                    <a:pt x="138623" y="1452606"/>
                  </a:lnTo>
                  <a:cubicBezTo>
                    <a:pt x="101858" y="1452606"/>
                    <a:pt x="66599" y="1438001"/>
                    <a:pt x="40602" y="1412004"/>
                  </a:cubicBezTo>
                  <a:cubicBezTo>
                    <a:pt x="14605" y="1386007"/>
                    <a:pt x="0" y="1350748"/>
                    <a:pt x="0" y="1313983"/>
                  </a:cubicBezTo>
                  <a:lnTo>
                    <a:pt x="0" y="138623"/>
                  </a:lnTo>
                  <a:cubicBezTo>
                    <a:pt x="0" y="101858"/>
                    <a:pt x="14605" y="66599"/>
                    <a:pt x="40602" y="40602"/>
                  </a:cubicBezTo>
                  <a:cubicBezTo>
                    <a:pt x="66599" y="14605"/>
                    <a:pt x="101858" y="0"/>
                    <a:pt x="138623" y="0"/>
                  </a:cubicBezTo>
                  <a:close/>
                </a:path>
              </a:pathLst>
            </a:custGeom>
            <a:solidFill>
              <a:srgbClr val="FFCCAC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054517" cy="1490706"/>
            </a:xfrm>
            <a:prstGeom prst="rect">
              <a:avLst/>
            </a:prstGeom>
          </p:spPr>
          <p:txBody>
            <a:bodyPr lIns="36138" tIns="36138" rIns="36138" bIns="3613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6307495" y="3829431"/>
            <a:ext cx="1669140" cy="1314069"/>
          </a:xfrm>
          <a:custGeom>
            <a:avLst/>
            <a:gdLst/>
            <a:ahLst/>
            <a:cxnLst/>
            <a:rect l="l" t="t" r="r" b="b"/>
            <a:pathLst>
              <a:path w="1669140" h="1314069">
                <a:moveTo>
                  <a:pt x="0" y="0"/>
                </a:moveTo>
                <a:lnTo>
                  <a:pt x="1669140" y="0"/>
                </a:lnTo>
                <a:lnTo>
                  <a:pt x="1669140" y="1314069"/>
                </a:lnTo>
                <a:lnTo>
                  <a:pt x="0" y="13140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22" name="Group 22"/>
          <p:cNvGrpSpPr/>
          <p:nvPr/>
        </p:nvGrpSpPr>
        <p:grpSpPr>
          <a:xfrm>
            <a:off x="9979356" y="3577225"/>
            <a:ext cx="2848287" cy="2105056"/>
            <a:chOff x="0" y="0"/>
            <a:chExt cx="1054517" cy="77935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4517" cy="779352"/>
            </a:xfrm>
            <a:custGeom>
              <a:avLst/>
              <a:gdLst/>
              <a:ahLst/>
              <a:cxnLst/>
              <a:rect l="l" t="t" r="r" b="b"/>
              <a:pathLst>
                <a:path w="1054517" h="779352">
                  <a:moveTo>
                    <a:pt x="138623" y="0"/>
                  </a:moveTo>
                  <a:lnTo>
                    <a:pt x="915894" y="0"/>
                  </a:lnTo>
                  <a:cubicBezTo>
                    <a:pt x="952659" y="0"/>
                    <a:pt x="987918" y="14605"/>
                    <a:pt x="1013915" y="40602"/>
                  </a:cubicBezTo>
                  <a:cubicBezTo>
                    <a:pt x="1039912" y="66599"/>
                    <a:pt x="1054517" y="101858"/>
                    <a:pt x="1054517" y="138623"/>
                  </a:cubicBezTo>
                  <a:lnTo>
                    <a:pt x="1054517" y="640729"/>
                  </a:lnTo>
                  <a:cubicBezTo>
                    <a:pt x="1054517" y="677494"/>
                    <a:pt x="1039912" y="712753"/>
                    <a:pt x="1013915" y="738750"/>
                  </a:cubicBezTo>
                  <a:cubicBezTo>
                    <a:pt x="987918" y="764747"/>
                    <a:pt x="952659" y="779352"/>
                    <a:pt x="915894" y="779352"/>
                  </a:cubicBezTo>
                  <a:lnTo>
                    <a:pt x="138623" y="779352"/>
                  </a:lnTo>
                  <a:cubicBezTo>
                    <a:pt x="101858" y="779352"/>
                    <a:pt x="66599" y="764747"/>
                    <a:pt x="40602" y="738750"/>
                  </a:cubicBezTo>
                  <a:cubicBezTo>
                    <a:pt x="14605" y="712753"/>
                    <a:pt x="0" y="677494"/>
                    <a:pt x="0" y="640729"/>
                  </a:cubicBezTo>
                  <a:lnTo>
                    <a:pt x="0" y="138623"/>
                  </a:lnTo>
                  <a:cubicBezTo>
                    <a:pt x="0" y="101858"/>
                    <a:pt x="14605" y="66599"/>
                    <a:pt x="40602" y="40602"/>
                  </a:cubicBezTo>
                  <a:cubicBezTo>
                    <a:pt x="66599" y="14605"/>
                    <a:pt x="101858" y="0"/>
                    <a:pt x="138623" y="0"/>
                  </a:cubicBezTo>
                  <a:close/>
                </a:path>
              </a:pathLst>
            </a:custGeom>
            <a:solidFill>
              <a:srgbClr val="DEEFC8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54517" cy="817452"/>
            </a:xfrm>
            <a:prstGeom prst="rect">
              <a:avLst/>
            </a:prstGeom>
          </p:spPr>
          <p:txBody>
            <a:bodyPr lIns="36138" tIns="36138" rIns="36138" bIns="3613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043431" y="4255103"/>
            <a:ext cx="284662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Поточний стан знань студента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022692" y="7593780"/>
            <a:ext cx="13644571" cy="1709398"/>
            <a:chOff x="0" y="0"/>
            <a:chExt cx="3593632" cy="45021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93632" cy="450212"/>
            </a:xfrm>
            <a:custGeom>
              <a:avLst/>
              <a:gdLst/>
              <a:ahLst/>
              <a:cxnLst/>
              <a:rect l="l" t="t" r="r" b="b"/>
              <a:pathLst>
                <a:path w="3593632" h="450212">
                  <a:moveTo>
                    <a:pt x="28937" y="0"/>
                  </a:moveTo>
                  <a:lnTo>
                    <a:pt x="3564694" y="0"/>
                  </a:lnTo>
                  <a:cubicBezTo>
                    <a:pt x="3572369" y="0"/>
                    <a:pt x="3579730" y="3049"/>
                    <a:pt x="3585156" y="8476"/>
                  </a:cubicBezTo>
                  <a:cubicBezTo>
                    <a:pt x="3590583" y="13902"/>
                    <a:pt x="3593632" y="21263"/>
                    <a:pt x="3593632" y="28937"/>
                  </a:cubicBezTo>
                  <a:lnTo>
                    <a:pt x="3593632" y="421274"/>
                  </a:lnTo>
                  <a:cubicBezTo>
                    <a:pt x="3593632" y="428949"/>
                    <a:pt x="3590583" y="436310"/>
                    <a:pt x="3585156" y="441736"/>
                  </a:cubicBezTo>
                  <a:cubicBezTo>
                    <a:pt x="3579730" y="447163"/>
                    <a:pt x="3572369" y="450212"/>
                    <a:pt x="3564694" y="450212"/>
                  </a:cubicBezTo>
                  <a:lnTo>
                    <a:pt x="28937" y="450212"/>
                  </a:lnTo>
                  <a:cubicBezTo>
                    <a:pt x="21263" y="450212"/>
                    <a:pt x="13902" y="447163"/>
                    <a:pt x="8476" y="441736"/>
                  </a:cubicBezTo>
                  <a:cubicBezTo>
                    <a:pt x="3049" y="436310"/>
                    <a:pt x="0" y="428949"/>
                    <a:pt x="0" y="421274"/>
                  </a:cubicBezTo>
                  <a:lnTo>
                    <a:pt x="0" y="28937"/>
                  </a:lnTo>
                  <a:cubicBezTo>
                    <a:pt x="0" y="21263"/>
                    <a:pt x="3049" y="13902"/>
                    <a:pt x="8476" y="8476"/>
                  </a:cubicBezTo>
                  <a:cubicBezTo>
                    <a:pt x="13902" y="3049"/>
                    <a:pt x="21263" y="0"/>
                    <a:pt x="289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3593632" cy="507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KT – механізм, який безперервно відстежує стан знань здобувача освіти на основі історії взаємодій, досволяючи системі прогнозувати успішність.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967193" y="3651275"/>
            <a:ext cx="1397047" cy="1670382"/>
          </a:xfrm>
          <a:custGeom>
            <a:avLst/>
            <a:gdLst/>
            <a:ahLst/>
            <a:cxnLst/>
            <a:rect l="l" t="t" r="r" b="b"/>
            <a:pathLst>
              <a:path w="1397047" h="1670382">
                <a:moveTo>
                  <a:pt x="0" y="0"/>
                </a:moveTo>
                <a:lnTo>
                  <a:pt x="1397046" y="0"/>
                </a:lnTo>
                <a:lnTo>
                  <a:pt x="1397046" y="1670382"/>
                </a:lnTo>
                <a:lnTo>
                  <a:pt x="0" y="16703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0" name="Freeform 30"/>
          <p:cNvSpPr/>
          <p:nvPr/>
        </p:nvSpPr>
        <p:spPr>
          <a:xfrm>
            <a:off x="15091175" y="3180667"/>
            <a:ext cx="1662989" cy="2244122"/>
          </a:xfrm>
          <a:custGeom>
            <a:avLst/>
            <a:gdLst/>
            <a:ahLst/>
            <a:cxnLst/>
            <a:rect l="l" t="t" r="r" b="b"/>
            <a:pathLst>
              <a:path w="1662989" h="2244122">
                <a:moveTo>
                  <a:pt x="0" y="0"/>
                </a:moveTo>
                <a:lnTo>
                  <a:pt x="1662989" y="0"/>
                </a:lnTo>
                <a:lnTo>
                  <a:pt x="1662989" y="2244122"/>
                </a:lnTo>
                <a:lnTo>
                  <a:pt x="0" y="2244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1" name="TextBox 31"/>
          <p:cNvSpPr txBox="1"/>
          <p:nvPr/>
        </p:nvSpPr>
        <p:spPr>
          <a:xfrm>
            <a:off x="5719588" y="5634656"/>
            <a:ext cx="284662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Модуль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відстеження знань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ВІДСТЕЖЕННЯ ЗНАНЬ (KT)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603020" y="5634656"/>
            <a:ext cx="2846621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Коригування навчальної траєкторії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58449" y="2142009"/>
            <a:ext cx="12613532" cy="4907792"/>
            <a:chOff x="0" y="0"/>
            <a:chExt cx="3322082" cy="129258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322082" cy="1292587"/>
            </a:xfrm>
            <a:custGeom>
              <a:avLst/>
              <a:gdLst/>
              <a:ahLst/>
              <a:cxnLst/>
              <a:rect l="l" t="t" r="r" b="b"/>
              <a:pathLst>
                <a:path w="3322082" h="1292587">
                  <a:moveTo>
                    <a:pt x="31303" y="0"/>
                  </a:moveTo>
                  <a:lnTo>
                    <a:pt x="3290780" y="0"/>
                  </a:lnTo>
                  <a:cubicBezTo>
                    <a:pt x="3299082" y="0"/>
                    <a:pt x="3307044" y="3298"/>
                    <a:pt x="3312914" y="9168"/>
                  </a:cubicBezTo>
                  <a:cubicBezTo>
                    <a:pt x="3318785" y="15039"/>
                    <a:pt x="3322082" y="23001"/>
                    <a:pt x="3322082" y="31303"/>
                  </a:cubicBezTo>
                  <a:lnTo>
                    <a:pt x="3322082" y="1261284"/>
                  </a:lnTo>
                  <a:cubicBezTo>
                    <a:pt x="3322082" y="1269586"/>
                    <a:pt x="3318785" y="1277548"/>
                    <a:pt x="3312914" y="1283419"/>
                  </a:cubicBezTo>
                  <a:cubicBezTo>
                    <a:pt x="3307044" y="1289289"/>
                    <a:pt x="3299082" y="1292587"/>
                    <a:pt x="3290780" y="1292587"/>
                  </a:cubicBezTo>
                  <a:lnTo>
                    <a:pt x="31303" y="1292587"/>
                  </a:lnTo>
                  <a:cubicBezTo>
                    <a:pt x="14015" y="1292587"/>
                    <a:pt x="0" y="1278572"/>
                    <a:pt x="0" y="1261284"/>
                  </a:cubicBezTo>
                  <a:lnTo>
                    <a:pt x="0" y="31303"/>
                  </a:lnTo>
                  <a:cubicBezTo>
                    <a:pt x="0" y="23001"/>
                    <a:pt x="3298" y="15039"/>
                    <a:pt x="9168" y="9168"/>
                  </a:cubicBezTo>
                  <a:cubicBezTo>
                    <a:pt x="15039" y="3298"/>
                    <a:pt x="23001" y="0"/>
                    <a:pt x="31303" y="0"/>
                  </a:cubicBezTo>
                  <a:close/>
                </a:path>
              </a:pathLst>
            </a:custGeom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3322082" cy="1349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2746777" y="4588048"/>
            <a:ext cx="1620498" cy="41705"/>
          </a:xfrm>
          <a:custGeom>
            <a:avLst/>
            <a:gdLst/>
            <a:ahLst/>
            <a:cxnLst/>
            <a:rect l="l" t="t" r="r" b="b"/>
            <a:pathLst>
              <a:path w="1620498" h="41705">
                <a:moveTo>
                  <a:pt x="0" y="0"/>
                </a:moveTo>
                <a:lnTo>
                  <a:pt x="789395" y="0"/>
                </a:lnTo>
                <a:cubicBezTo>
                  <a:pt x="800912" y="0"/>
                  <a:pt x="810248" y="9336"/>
                  <a:pt x="810248" y="20852"/>
                </a:cubicBezTo>
                <a:lnTo>
                  <a:pt x="810248" y="20852"/>
                </a:lnTo>
                <a:cubicBezTo>
                  <a:pt x="810248" y="32369"/>
                  <a:pt x="819584" y="41705"/>
                  <a:pt x="831101" y="41705"/>
                </a:cubicBezTo>
                <a:lnTo>
                  <a:pt x="1620498" y="41705"/>
                </a:lnTo>
              </a:path>
            </a:pathLst>
          </a:cu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grpSp>
        <p:nvGrpSpPr>
          <p:cNvPr id="38" name="Group 2">
            <a:extLst>
              <a:ext uri="{FF2B5EF4-FFF2-40B4-BE49-F238E27FC236}">
                <a16:creationId xmlns:a16="http://schemas.microsoft.com/office/drawing/2014/main" id="{E9195221-89FB-DACD-4762-6D9619C014EC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7AEC1857-BBCB-2A66-EC63-E05E6723CA7A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40" name="TextBox 4">
              <a:extLst>
                <a:ext uri="{FF2B5EF4-FFF2-40B4-BE49-F238E27FC236}">
                  <a16:creationId xmlns:a16="http://schemas.microsoft.com/office/drawing/2014/main" id="{C7281461-ABDE-D166-1AB4-8B3AA80CA2D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D2F72717-2DD6-C661-6FB7-A54A9929EE32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9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523875"/>
            <a:ext cx="18288000" cy="139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69"/>
              </a:lnSpc>
            </a:pPr>
            <a:r>
              <a:rPr lang="en-US" sz="8192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МЕТОДОЛОГІЯ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086228" y="2118472"/>
            <a:ext cx="12115544" cy="7266735"/>
            <a:chOff x="0" y="0"/>
            <a:chExt cx="3190925" cy="19138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90925" cy="1913873"/>
            </a:xfrm>
            <a:custGeom>
              <a:avLst/>
              <a:gdLst/>
              <a:ahLst/>
              <a:cxnLst/>
              <a:rect l="l" t="t" r="r" b="b"/>
              <a:pathLst>
                <a:path w="3190925" h="1913873">
                  <a:moveTo>
                    <a:pt x="32589" y="0"/>
                  </a:moveTo>
                  <a:lnTo>
                    <a:pt x="3158336" y="0"/>
                  </a:lnTo>
                  <a:cubicBezTo>
                    <a:pt x="3166979" y="0"/>
                    <a:pt x="3175268" y="3434"/>
                    <a:pt x="3181380" y="9545"/>
                  </a:cubicBezTo>
                  <a:cubicBezTo>
                    <a:pt x="3187491" y="15657"/>
                    <a:pt x="3190925" y="23946"/>
                    <a:pt x="3190925" y="32589"/>
                  </a:cubicBezTo>
                  <a:lnTo>
                    <a:pt x="3190925" y="1881283"/>
                  </a:lnTo>
                  <a:cubicBezTo>
                    <a:pt x="3190925" y="1889927"/>
                    <a:pt x="3187491" y="1898216"/>
                    <a:pt x="3181380" y="1904328"/>
                  </a:cubicBezTo>
                  <a:cubicBezTo>
                    <a:pt x="3175268" y="1910439"/>
                    <a:pt x="3166979" y="1913873"/>
                    <a:pt x="3158336" y="1913873"/>
                  </a:cubicBezTo>
                  <a:lnTo>
                    <a:pt x="32589" y="1913873"/>
                  </a:lnTo>
                  <a:cubicBezTo>
                    <a:pt x="23946" y="1913873"/>
                    <a:pt x="15657" y="1910439"/>
                    <a:pt x="9545" y="1904328"/>
                  </a:cubicBezTo>
                  <a:cubicBezTo>
                    <a:pt x="3434" y="1898216"/>
                    <a:pt x="0" y="1889927"/>
                    <a:pt x="0" y="1881283"/>
                  </a:cubicBezTo>
                  <a:lnTo>
                    <a:pt x="0" y="32589"/>
                  </a:lnTo>
                  <a:cubicBezTo>
                    <a:pt x="0" y="23946"/>
                    <a:pt x="3434" y="15657"/>
                    <a:pt x="9545" y="9545"/>
                  </a:cubicBezTo>
                  <a:cubicBezTo>
                    <a:pt x="15657" y="3434"/>
                    <a:pt x="23946" y="0"/>
                    <a:pt x="325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190925" cy="19710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86228" y="2469041"/>
            <a:ext cx="11715122" cy="665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Загальнонаукові методи: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аналіз і узагальнення наукових джерел для систематизації підходів адаптивного навчання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Теорія прийняття рішень: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метод багатокритеріального аналізу (метод адитивної згортки та шкала Харрінгтона) для обґрунтування вибору методів ШІ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Методи штучного інтелекту: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моделювання рівня засвоєння матеріалу (Knowledge Tracing) за допомогою трансформерної моделі SAKT та ймовірнісної BKT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30" lvl="1" indent="-291465" algn="just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Методи оцінювання та математичної статистики: 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крос-датасетна валідація на 3 масивах даних та t-критерій Стьюдента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394B40F3-D8EE-D867-D23F-B3562F1F2BDD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C5EAB29B-24A2-2169-3446-53CD53D200D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E36F80EB-DDD4-B31C-C3AF-087A3C801E95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0">
            <a:extLst>
              <a:ext uri="{FF2B5EF4-FFF2-40B4-BE49-F238E27FC236}">
                <a16:creationId xmlns:a16="http://schemas.microsoft.com/office/drawing/2014/main" id="{9F0970A1-E206-8611-089B-FBF0084380A3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22692" y="7593780"/>
            <a:ext cx="13644571" cy="2140345"/>
            <a:chOff x="0" y="0"/>
            <a:chExt cx="3593632" cy="5637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93632" cy="563712"/>
            </a:xfrm>
            <a:custGeom>
              <a:avLst/>
              <a:gdLst/>
              <a:ahLst/>
              <a:cxnLst/>
              <a:rect l="l" t="t" r="r" b="b"/>
              <a:pathLst>
                <a:path w="3593632" h="563712">
                  <a:moveTo>
                    <a:pt x="28937" y="0"/>
                  </a:moveTo>
                  <a:lnTo>
                    <a:pt x="3564694" y="0"/>
                  </a:lnTo>
                  <a:cubicBezTo>
                    <a:pt x="3572369" y="0"/>
                    <a:pt x="3579730" y="3049"/>
                    <a:pt x="3585156" y="8476"/>
                  </a:cubicBezTo>
                  <a:cubicBezTo>
                    <a:pt x="3590583" y="13902"/>
                    <a:pt x="3593632" y="21263"/>
                    <a:pt x="3593632" y="28937"/>
                  </a:cubicBezTo>
                  <a:lnTo>
                    <a:pt x="3593632" y="534775"/>
                  </a:lnTo>
                  <a:cubicBezTo>
                    <a:pt x="3593632" y="542450"/>
                    <a:pt x="3590583" y="549810"/>
                    <a:pt x="3585156" y="555237"/>
                  </a:cubicBezTo>
                  <a:cubicBezTo>
                    <a:pt x="3579730" y="560664"/>
                    <a:pt x="3572369" y="563712"/>
                    <a:pt x="3564694" y="563712"/>
                  </a:cubicBezTo>
                  <a:lnTo>
                    <a:pt x="28937" y="563712"/>
                  </a:lnTo>
                  <a:cubicBezTo>
                    <a:pt x="21263" y="563712"/>
                    <a:pt x="13902" y="560664"/>
                    <a:pt x="8476" y="555237"/>
                  </a:cubicBezTo>
                  <a:cubicBezTo>
                    <a:pt x="3049" y="549810"/>
                    <a:pt x="0" y="542450"/>
                    <a:pt x="0" y="534775"/>
                  </a:cubicBezTo>
                  <a:lnTo>
                    <a:pt x="0" y="28937"/>
                  </a:lnTo>
                  <a:cubicBezTo>
                    <a:pt x="0" y="21263"/>
                    <a:pt x="3049" y="13902"/>
                    <a:pt x="8476" y="8476"/>
                  </a:cubicBezTo>
                  <a:cubicBezTo>
                    <a:pt x="13902" y="3049"/>
                    <a:pt x="21263" y="0"/>
                    <a:pt x="289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593632" cy="620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Гіпотеза експериментального дослідження:</a:t>
              </a: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сучасний механізм уваги (Self-Attention), незважаючи на вищу алгоритмічну складність, забезпечить статистично значуще покращення якості моделювання порівняно з прозорим класичним еталоном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23836" y="1861530"/>
            <a:ext cx="13644571" cy="1187845"/>
            <a:chOff x="0" y="0"/>
            <a:chExt cx="3593632" cy="312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93632" cy="312848"/>
            </a:xfrm>
            <a:custGeom>
              <a:avLst/>
              <a:gdLst/>
              <a:ahLst/>
              <a:cxnLst/>
              <a:rect l="l" t="t" r="r" b="b"/>
              <a:pathLst>
                <a:path w="3593632" h="312848">
                  <a:moveTo>
                    <a:pt x="28937" y="0"/>
                  </a:moveTo>
                  <a:lnTo>
                    <a:pt x="3564694" y="0"/>
                  </a:lnTo>
                  <a:cubicBezTo>
                    <a:pt x="3572369" y="0"/>
                    <a:pt x="3579730" y="3049"/>
                    <a:pt x="3585156" y="8476"/>
                  </a:cubicBezTo>
                  <a:cubicBezTo>
                    <a:pt x="3590583" y="13902"/>
                    <a:pt x="3593632" y="21263"/>
                    <a:pt x="3593632" y="28937"/>
                  </a:cubicBezTo>
                  <a:lnTo>
                    <a:pt x="3593632" y="283911"/>
                  </a:lnTo>
                  <a:cubicBezTo>
                    <a:pt x="3593632" y="291585"/>
                    <a:pt x="3590583" y="298946"/>
                    <a:pt x="3585156" y="304373"/>
                  </a:cubicBezTo>
                  <a:cubicBezTo>
                    <a:pt x="3579730" y="309799"/>
                    <a:pt x="3572369" y="312848"/>
                    <a:pt x="3564694" y="312848"/>
                  </a:cubicBezTo>
                  <a:lnTo>
                    <a:pt x="28937" y="312848"/>
                  </a:lnTo>
                  <a:cubicBezTo>
                    <a:pt x="21263" y="312848"/>
                    <a:pt x="13902" y="309799"/>
                    <a:pt x="8476" y="304373"/>
                  </a:cubicBezTo>
                  <a:cubicBezTo>
                    <a:pt x="3049" y="298946"/>
                    <a:pt x="0" y="291585"/>
                    <a:pt x="0" y="283911"/>
                  </a:cubicBezTo>
                  <a:lnTo>
                    <a:pt x="0" y="28937"/>
                  </a:lnTo>
                  <a:cubicBezTo>
                    <a:pt x="0" y="21263"/>
                    <a:pt x="3049" y="13902"/>
                    <a:pt x="8476" y="8476"/>
                  </a:cubicBezTo>
                  <a:cubicBezTo>
                    <a:pt x="13902" y="3049"/>
                    <a:pt x="21263" y="0"/>
                    <a:pt x="289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593632" cy="369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Обрані критерії: прогностична точність, персоналізація, складність реалізації, інтерпретованість, вимоги до даних.</a:t>
              </a:r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2123836" y="4717230"/>
          <a:ext cx="4922059" cy="2238375"/>
        </p:xfrm>
        <a:graphic>
          <a:graphicData uri="http://schemas.openxmlformats.org/drawingml/2006/table">
            <a:tbl>
              <a:tblPr/>
              <a:tblGrid>
                <a:gridCol w="164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Рік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1994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Тип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Ймовірнісна (White Box)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Знання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Бінарні (1, 0)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ТЕОРЕТИЧНЕ ДОСЛІДЖЕННЯ МОДЕЛЕЙ KT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10846348" y="4717230"/>
          <a:ext cx="4922059" cy="2238375"/>
        </p:xfrm>
        <a:graphic>
          <a:graphicData uri="http://schemas.openxmlformats.org/drawingml/2006/table">
            <a:tbl>
              <a:tblPr/>
              <a:tblGrid>
                <a:gridCol w="1649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Рік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2019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Тип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Трансформер (Black Box)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Знання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Неперервні вектори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3599147" y="3399605"/>
            <a:ext cx="197143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BKT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21659" y="3399605"/>
            <a:ext cx="197143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SAKT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937CDB7B-5362-9277-536B-4AE131B1811D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0DE59432-0B66-D012-EC7B-4540BFF5016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06FE2000-8492-161C-24D5-DFC3496DF4F6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10">
            <a:extLst>
              <a:ext uri="{FF2B5EF4-FFF2-40B4-BE49-F238E27FC236}">
                <a16:creationId xmlns:a16="http://schemas.microsoft.com/office/drawing/2014/main" id="{51864729-0FFD-1E69-EFE3-080D886D02DA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41573" y="2667984"/>
            <a:ext cx="2848287" cy="3923538"/>
            <a:chOff x="0" y="0"/>
            <a:chExt cx="3797716" cy="523138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3797716" cy="5231384"/>
              <a:chOff x="0" y="0"/>
              <a:chExt cx="1054517" cy="145260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054517" cy="1452606"/>
              </a:xfrm>
              <a:custGeom>
                <a:avLst/>
                <a:gdLst/>
                <a:ahLst/>
                <a:cxnLst/>
                <a:rect l="l" t="t" r="r" b="b"/>
                <a:pathLst>
                  <a:path w="1054517" h="1452606">
                    <a:moveTo>
                      <a:pt x="98614" y="0"/>
                    </a:moveTo>
                    <a:lnTo>
                      <a:pt x="955903" y="0"/>
                    </a:lnTo>
                    <a:cubicBezTo>
                      <a:pt x="1010366" y="0"/>
                      <a:pt x="1054517" y="44151"/>
                      <a:pt x="1054517" y="98614"/>
                    </a:cubicBezTo>
                    <a:lnTo>
                      <a:pt x="1054517" y="1353991"/>
                    </a:lnTo>
                    <a:cubicBezTo>
                      <a:pt x="1054517" y="1408455"/>
                      <a:pt x="1010366" y="1452606"/>
                      <a:pt x="955903" y="1452606"/>
                    </a:cubicBezTo>
                    <a:lnTo>
                      <a:pt x="98614" y="1452606"/>
                    </a:lnTo>
                    <a:cubicBezTo>
                      <a:pt x="44151" y="1452606"/>
                      <a:pt x="0" y="1408455"/>
                      <a:pt x="0" y="1353991"/>
                    </a:cubicBezTo>
                    <a:lnTo>
                      <a:pt x="0" y="98614"/>
                    </a:lnTo>
                    <a:cubicBezTo>
                      <a:pt x="0" y="44151"/>
                      <a:pt x="44151" y="0"/>
                      <a:pt x="98614" y="0"/>
                    </a:cubicBezTo>
                    <a:close/>
                  </a:path>
                </a:pathLst>
              </a:custGeom>
              <a:solidFill>
                <a:srgbClr val="FFD4D4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054517" cy="14907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05206" y="4013977"/>
              <a:ext cx="2987305" cy="876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9"/>
                </a:lnSpc>
              </a:pPr>
              <a:r>
                <a:rPr lang="en-US" sz="192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Дані</a:t>
              </a:r>
            </a:p>
            <a:p>
              <a:pPr algn="ctr">
                <a:lnSpc>
                  <a:spcPts val="2689"/>
                </a:lnSpc>
                <a:spcBef>
                  <a:spcPct val="0"/>
                </a:spcBef>
              </a:pPr>
              <a:r>
                <a:rPr lang="en-US" sz="192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ASSISTments 2017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55483" y="442117"/>
              <a:ext cx="2686750" cy="3389248"/>
            </a:xfrm>
            <a:custGeom>
              <a:avLst/>
              <a:gdLst/>
              <a:ahLst/>
              <a:cxnLst/>
              <a:rect l="l" t="t" r="r" b="b"/>
              <a:pathLst>
                <a:path w="2686750" h="3389248">
                  <a:moveTo>
                    <a:pt x="0" y="0"/>
                  </a:moveTo>
                  <a:lnTo>
                    <a:pt x="2686750" y="0"/>
                  </a:lnTo>
                  <a:lnTo>
                    <a:pt x="2686750" y="3389248"/>
                  </a:lnTo>
                  <a:lnTo>
                    <a:pt x="0" y="3389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4089859" y="4629753"/>
            <a:ext cx="1628062" cy="0"/>
          </a:xfrm>
          <a:prstGeom prst="line">
            <a:avLst/>
          </a:pr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sp>
        <p:nvSpPr>
          <p:cNvPr id="18" name="Freeform 18"/>
          <p:cNvSpPr/>
          <p:nvPr/>
        </p:nvSpPr>
        <p:spPr>
          <a:xfrm>
            <a:off x="9272782" y="3577225"/>
            <a:ext cx="706573" cy="0"/>
          </a:xfrm>
          <a:custGeom>
            <a:avLst/>
            <a:gdLst/>
            <a:ahLst/>
            <a:cxnLst/>
            <a:rect l="l" t="t" r="r" b="b"/>
            <a:pathLst>
              <a:path w="706573">
                <a:moveTo>
                  <a:pt x="0" y="0"/>
                </a:moveTo>
                <a:lnTo>
                  <a:pt x="706573" y="0"/>
                </a:lnTo>
              </a:path>
            </a:pathLst>
          </a:cu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sp>
        <p:nvSpPr>
          <p:cNvPr id="19" name="Freeform 19"/>
          <p:cNvSpPr/>
          <p:nvPr/>
        </p:nvSpPr>
        <p:spPr>
          <a:xfrm>
            <a:off x="9272782" y="5682281"/>
            <a:ext cx="706573" cy="0"/>
          </a:xfrm>
          <a:custGeom>
            <a:avLst/>
            <a:gdLst/>
            <a:ahLst/>
            <a:cxnLst/>
            <a:rect l="l" t="t" r="r" b="b"/>
            <a:pathLst>
              <a:path w="706573">
                <a:moveTo>
                  <a:pt x="0" y="0"/>
                </a:moveTo>
                <a:lnTo>
                  <a:pt x="706573" y="0"/>
                </a:lnTo>
              </a:path>
            </a:pathLst>
          </a:cu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Box 20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ДИЗАЙН ЕКСПЕРИМЕНТУ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7922" y="2667984"/>
            <a:ext cx="2848287" cy="3923538"/>
            <a:chOff x="0" y="0"/>
            <a:chExt cx="3797716" cy="5231384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797716" cy="5231384"/>
              <a:chOff x="0" y="0"/>
              <a:chExt cx="1054517" cy="145260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054517" cy="1452606"/>
              </a:xfrm>
              <a:custGeom>
                <a:avLst/>
                <a:gdLst/>
                <a:ahLst/>
                <a:cxnLst/>
                <a:rect l="l" t="t" r="r" b="b"/>
                <a:pathLst>
                  <a:path w="1054517" h="1452606">
                    <a:moveTo>
                      <a:pt x="138623" y="0"/>
                    </a:moveTo>
                    <a:lnTo>
                      <a:pt x="915894" y="0"/>
                    </a:lnTo>
                    <a:cubicBezTo>
                      <a:pt x="952659" y="0"/>
                      <a:pt x="987918" y="14605"/>
                      <a:pt x="1013915" y="40602"/>
                    </a:cubicBezTo>
                    <a:cubicBezTo>
                      <a:pt x="1039912" y="66599"/>
                      <a:pt x="1054517" y="101858"/>
                      <a:pt x="1054517" y="138623"/>
                    </a:cubicBezTo>
                    <a:lnTo>
                      <a:pt x="1054517" y="1313983"/>
                    </a:lnTo>
                    <a:cubicBezTo>
                      <a:pt x="1054517" y="1350748"/>
                      <a:pt x="1039912" y="1386007"/>
                      <a:pt x="1013915" y="1412004"/>
                    </a:cubicBezTo>
                    <a:cubicBezTo>
                      <a:pt x="987918" y="1438001"/>
                      <a:pt x="952659" y="1452606"/>
                      <a:pt x="915894" y="1452606"/>
                    </a:cubicBezTo>
                    <a:lnTo>
                      <a:pt x="138623" y="1452606"/>
                    </a:lnTo>
                    <a:cubicBezTo>
                      <a:pt x="101858" y="1452606"/>
                      <a:pt x="66599" y="1438001"/>
                      <a:pt x="40602" y="1412004"/>
                    </a:cubicBezTo>
                    <a:cubicBezTo>
                      <a:pt x="14605" y="1386007"/>
                      <a:pt x="0" y="1350748"/>
                      <a:pt x="0" y="1313983"/>
                    </a:cubicBezTo>
                    <a:lnTo>
                      <a:pt x="0" y="138623"/>
                    </a:lnTo>
                    <a:cubicBezTo>
                      <a:pt x="0" y="101858"/>
                      <a:pt x="14605" y="66599"/>
                      <a:pt x="40602" y="40602"/>
                    </a:cubicBezTo>
                    <a:cubicBezTo>
                      <a:pt x="66599" y="14605"/>
                      <a:pt x="101858" y="0"/>
                      <a:pt x="138623" y="0"/>
                    </a:cubicBezTo>
                    <a:close/>
                  </a:path>
                </a:pathLst>
              </a:custGeom>
              <a:solidFill>
                <a:srgbClr val="FFCCAC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054517" cy="1490706"/>
              </a:xfrm>
              <a:prstGeom prst="rect">
                <a:avLst/>
              </a:prstGeom>
            </p:spPr>
            <p:txBody>
              <a:bodyPr lIns="36138" tIns="36138" rIns="36138" bIns="36138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786098" y="1548597"/>
              <a:ext cx="2225520" cy="1752091"/>
            </a:xfrm>
            <a:custGeom>
              <a:avLst/>
              <a:gdLst/>
              <a:ahLst/>
              <a:cxnLst/>
              <a:rect l="l" t="t" r="r" b="b"/>
              <a:pathLst>
                <a:path w="2225520" h="1752091">
                  <a:moveTo>
                    <a:pt x="0" y="0"/>
                  </a:moveTo>
                  <a:lnTo>
                    <a:pt x="2225520" y="0"/>
                  </a:lnTo>
                  <a:lnTo>
                    <a:pt x="2225520" y="1752091"/>
                  </a:lnTo>
                  <a:lnTo>
                    <a:pt x="0" y="175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A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22" y="4103058"/>
              <a:ext cx="3795494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Препроцесинг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79356" y="2667984"/>
            <a:ext cx="2848287" cy="1818482"/>
            <a:chOff x="0" y="0"/>
            <a:chExt cx="3797716" cy="2424642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3797716" cy="2424642"/>
              <a:chOff x="0" y="0"/>
              <a:chExt cx="1054517" cy="67325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54517" cy="673254"/>
              </a:xfrm>
              <a:custGeom>
                <a:avLst/>
                <a:gdLst/>
                <a:ahLst/>
                <a:cxnLst/>
                <a:rect l="l" t="t" r="r" b="b"/>
                <a:pathLst>
                  <a:path w="1054517" h="673254">
                    <a:moveTo>
                      <a:pt x="138623" y="0"/>
                    </a:moveTo>
                    <a:lnTo>
                      <a:pt x="915894" y="0"/>
                    </a:lnTo>
                    <a:cubicBezTo>
                      <a:pt x="952659" y="0"/>
                      <a:pt x="987918" y="14605"/>
                      <a:pt x="1013915" y="40602"/>
                    </a:cubicBezTo>
                    <a:cubicBezTo>
                      <a:pt x="1039912" y="66599"/>
                      <a:pt x="1054517" y="101858"/>
                      <a:pt x="1054517" y="138623"/>
                    </a:cubicBezTo>
                    <a:lnTo>
                      <a:pt x="1054517" y="534631"/>
                    </a:lnTo>
                    <a:cubicBezTo>
                      <a:pt x="1054517" y="571396"/>
                      <a:pt x="1039912" y="606655"/>
                      <a:pt x="1013915" y="632652"/>
                    </a:cubicBezTo>
                    <a:cubicBezTo>
                      <a:pt x="987918" y="658649"/>
                      <a:pt x="952659" y="673254"/>
                      <a:pt x="915894" y="673254"/>
                    </a:cubicBezTo>
                    <a:lnTo>
                      <a:pt x="138623" y="673254"/>
                    </a:lnTo>
                    <a:cubicBezTo>
                      <a:pt x="101858" y="673254"/>
                      <a:pt x="66599" y="658649"/>
                      <a:pt x="40602" y="632652"/>
                    </a:cubicBezTo>
                    <a:cubicBezTo>
                      <a:pt x="14605" y="606655"/>
                      <a:pt x="0" y="571396"/>
                      <a:pt x="0" y="534631"/>
                    </a:cubicBezTo>
                    <a:lnTo>
                      <a:pt x="0" y="138623"/>
                    </a:lnTo>
                    <a:cubicBezTo>
                      <a:pt x="0" y="101858"/>
                      <a:pt x="14605" y="66599"/>
                      <a:pt x="40602" y="40602"/>
                    </a:cubicBezTo>
                    <a:cubicBezTo>
                      <a:pt x="66599" y="14605"/>
                      <a:pt x="101858" y="0"/>
                      <a:pt x="138623" y="0"/>
                    </a:cubicBezTo>
                    <a:close/>
                  </a:path>
                </a:pathLst>
              </a:custGeom>
              <a:solidFill>
                <a:srgbClr val="B2E3EF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054517" cy="711354"/>
              </a:xfrm>
              <a:prstGeom prst="rect">
                <a:avLst/>
              </a:prstGeom>
            </p:spPr>
            <p:txBody>
              <a:bodyPr lIns="36138" tIns="36138" rIns="36138" bIns="36138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222" y="728663"/>
              <a:ext cx="3795494" cy="919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SAKT: 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вікна L=50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79356" y="4773040"/>
            <a:ext cx="2848287" cy="1818482"/>
            <a:chOff x="0" y="0"/>
            <a:chExt cx="3797716" cy="2424642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3797716" cy="2424642"/>
              <a:chOff x="0" y="0"/>
              <a:chExt cx="1054517" cy="67325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054517" cy="673254"/>
              </a:xfrm>
              <a:custGeom>
                <a:avLst/>
                <a:gdLst/>
                <a:ahLst/>
                <a:cxnLst/>
                <a:rect l="l" t="t" r="r" b="b"/>
                <a:pathLst>
                  <a:path w="1054517" h="673254">
                    <a:moveTo>
                      <a:pt x="138623" y="0"/>
                    </a:moveTo>
                    <a:lnTo>
                      <a:pt x="915894" y="0"/>
                    </a:lnTo>
                    <a:cubicBezTo>
                      <a:pt x="952659" y="0"/>
                      <a:pt x="987918" y="14605"/>
                      <a:pt x="1013915" y="40602"/>
                    </a:cubicBezTo>
                    <a:cubicBezTo>
                      <a:pt x="1039912" y="66599"/>
                      <a:pt x="1054517" y="101858"/>
                      <a:pt x="1054517" y="138623"/>
                    </a:cubicBezTo>
                    <a:lnTo>
                      <a:pt x="1054517" y="534631"/>
                    </a:lnTo>
                    <a:cubicBezTo>
                      <a:pt x="1054517" y="571396"/>
                      <a:pt x="1039912" y="606655"/>
                      <a:pt x="1013915" y="632652"/>
                    </a:cubicBezTo>
                    <a:cubicBezTo>
                      <a:pt x="987918" y="658649"/>
                      <a:pt x="952659" y="673254"/>
                      <a:pt x="915894" y="673254"/>
                    </a:cubicBezTo>
                    <a:lnTo>
                      <a:pt x="138623" y="673254"/>
                    </a:lnTo>
                    <a:cubicBezTo>
                      <a:pt x="101858" y="673254"/>
                      <a:pt x="66599" y="658649"/>
                      <a:pt x="40602" y="632652"/>
                    </a:cubicBezTo>
                    <a:cubicBezTo>
                      <a:pt x="14605" y="606655"/>
                      <a:pt x="0" y="571396"/>
                      <a:pt x="0" y="534631"/>
                    </a:cubicBezTo>
                    <a:lnTo>
                      <a:pt x="0" y="138623"/>
                    </a:lnTo>
                    <a:cubicBezTo>
                      <a:pt x="0" y="101858"/>
                      <a:pt x="14605" y="66599"/>
                      <a:pt x="40602" y="40602"/>
                    </a:cubicBezTo>
                    <a:cubicBezTo>
                      <a:pt x="66599" y="14605"/>
                      <a:pt x="101858" y="0"/>
                      <a:pt x="138623" y="0"/>
                    </a:cubicBezTo>
                    <a:close/>
                  </a:path>
                </a:pathLst>
              </a:custGeom>
              <a:solidFill>
                <a:srgbClr val="DEEFC8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054517" cy="711354"/>
              </a:xfrm>
              <a:prstGeom prst="rect">
                <a:avLst/>
              </a:prstGeom>
            </p:spPr>
            <p:txBody>
              <a:bodyPr lIns="36138" tIns="36138" rIns="36138" bIns="36138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0" y="493713"/>
              <a:ext cx="3795494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BKT: 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кортежі (user, skill, correct)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4367275" y="2667984"/>
            <a:ext cx="2892025" cy="3923538"/>
            <a:chOff x="0" y="0"/>
            <a:chExt cx="3856034" cy="523138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3797716" cy="5231384"/>
              <a:chOff x="0" y="0"/>
              <a:chExt cx="1054517" cy="145260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054517" cy="1452606"/>
              </a:xfrm>
              <a:custGeom>
                <a:avLst/>
                <a:gdLst/>
                <a:ahLst/>
                <a:cxnLst/>
                <a:rect l="l" t="t" r="r" b="b"/>
                <a:pathLst>
                  <a:path w="1054517" h="1452606">
                    <a:moveTo>
                      <a:pt x="138623" y="0"/>
                    </a:moveTo>
                    <a:lnTo>
                      <a:pt x="915894" y="0"/>
                    </a:lnTo>
                    <a:cubicBezTo>
                      <a:pt x="952659" y="0"/>
                      <a:pt x="987918" y="14605"/>
                      <a:pt x="1013915" y="40602"/>
                    </a:cubicBezTo>
                    <a:cubicBezTo>
                      <a:pt x="1039912" y="66599"/>
                      <a:pt x="1054517" y="101858"/>
                      <a:pt x="1054517" y="138623"/>
                    </a:cubicBezTo>
                    <a:lnTo>
                      <a:pt x="1054517" y="1313983"/>
                    </a:lnTo>
                    <a:cubicBezTo>
                      <a:pt x="1054517" y="1350748"/>
                      <a:pt x="1039912" y="1386007"/>
                      <a:pt x="1013915" y="1412004"/>
                    </a:cubicBezTo>
                    <a:cubicBezTo>
                      <a:pt x="987918" y="1438001"/>
                      <a:pt x="952659" y="1452606"/>
                      <a:pt x="915894" y="1452606"/>
                    </a:cubicBezTo>
                    <a:lnTo>
                      <a:pt x="138623" y="1452606"/>
                    </a:lnTo>
                    <a:cubicBezTo>
                      <a:pt x="101858" y="1452606"/>
                      <a:pt x="66599" y="1438001"/>
                      <a:pt x="40602" y="1412004"/>
                    </a:cubicBezTo>
                    <a:cubicBezTo>
                      <a:pt x="14605" y="1386007"/>
                      <a:pt x="0" y="1350748"/>
                      <a:pt x="0" y="1313983"/>
                    </a:cubicBezTo>
                    <a:lnTo>
                      <a:pt x="0" y="138623"/>
                    </a:lnTo>
                    <a:cubicBezTo>
                      <a:pt x="0" y="101858"/>
                      <a:pt x="14605" y="66599"/>
                      <a:pt x="40602" y="40602"/>
                    </a:cubicBezTo>
                    <a:cubicBezTo>
                      <a:pt x="66599" y="14605"/>
                      <a:pt x="101858" y="0"/>
                      <a:pt x="138623" y="0"/>
                    </a:cubicBezTo>
                    <a:close/>
                  </a:path>
                </a:pathLst>
              </a:custGeom>
              <a:solidFill>
                <a:srgbClr val="FAECB5"/>
              </a:solidFill>
              <a:ln w="3810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054517" cy="1490706"/>
              </a:xfrm>
              <a:prstGeom prst="rect">
                <a:avLst/>
              </a:prstGeom>
            </p:spPr>
            <p:txBody>
              <a:bodyPr lIns="36138" tIns="36138" rIns="36138" bIns="36138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1144024" y="1032622"/>
              <a:ext cx="1820458" cy="1774119"/>
            </a:xfrm>
            <a:custGeom>
              <a:avLst/>
              <a:gdLst/>
              <a:ahLst/>
              <a:cxnLst/>
              <a:rect l="l" t="t" r="r" b="b"/>
              <a:pathLst>
                <a:path w="1820458" h="1774119">
                  <a:moveTo>
                    <a:pt x="0" y="0"/>
                  </a:moveTo>
                  <a:lnTo>
                    <a:pt x="1820458" y="0"/>
                  </a:lnTo>
                  <a:lnTo>
                    <a:pt x="1820458" y="1774120"/>
                  </a:lnTo>
                  <a:lnTo>
                    <a:pt x="0" y="1774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A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539" y="3099371"/>
              <a:ext cx="3795494" cy="4497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Метрики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39" y="3253063"/>
              <a:ext cx="3795494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</a:pPr>
              <a:endParaRPr/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AUC, Accuracy, 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F1-score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12827643" y="3577225"/>
            <a:ext cx="1539632" cy="1052528"/>
          </a:xfrm>
          <a:custGeom>
            <a:avLst/>
            <a:gdLst/>
            <a:ahLst/>
            <a:cxnLst/>
            <a:rect l="l" t="t" r="r" b="b"/>
            <a:pathLst>
              <a:path w="1539632" h="1052528">
                <a:moveTo>
                  <a:pt x="0" y="0"/>
                </a:moveTo>
                <a:lnTo>
                  <a:pt x="228600" y="0"/>
                </a:lnTo>
                <a:cubicBezTo>
                  <a:pt x="289229" y="0"/>
                  <a:pt x="347375" y="24085"/>
                  <a:pt x="390245" y="66955"/>
                </a:cubicBezTo>
                <a:cubicBezTo>
                  <a:pt x="433117" y="109826"/>
                  <a:pt x="457200" y="167972"/>
                  <a:pt x="457200" y="228600"/>
                </a:cubicBezTo>
                <a:lnTo>
                  <a:pt x="457200" y="823928"/>
                </a:lnTo>
                <a:cubicBezTo>
                  <a:pt x="457200" y="950180"/>
                  <a:pt x="559548" y="1052528"/>
                  <a:pt x="685800" y="1052528"/>
                </a:cubicBezTo>
                <a:lnTo>
                  <a:pt x="1539632" y="1052528"/>
                </a:lnTo>
              </a:path>
            </a:pathLst>
          </a:cu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sp>
        <p:nvSpPr>
          <p:cNvPr id="45" name="Freeform 45"/>
          <p:cNvSpPr/>
          <p:nvPr/>
        </p:nvSpPr>
        <p:spPr>
          <a:xfrm>
            <a:off x="12825976" y="4629753"/>
            <a:ext cx="1541299" cy="1052528"/>
          </a:xfrm>
          <a:custGeom>
            <a:avLst/>
            <a:gdLst/>
            <a:ahLst/>
            <a:cxnLst/>
            <a:rect l="l" t="t" r="r" b="b"/>
            <a:pathLst>
              <a:path w="1541299" h="1052528">
                <a:moveTo>
                  <a:pt x="0" y="1052528"/>
                </a:moveTo>
                <a:lnTo>
                  <a:pt x="382667" y="1052528"/>
                </a:lnTo>
                <a:cubicBezTo>
                  <a:pt x="443296" y="1052528"/>
                  <a:pt x="501442" y="1028443"/>
                  <a:pt x="544312" y="985573"/>
                </a:cubicBezTo>
                <a:cubicBezTo>
                  <a:pt x="587184" y="942702"/>
                  <a:pt x="611267" y="884557"/>
                  <a:pt x="611267" y="823928"/>
                </a:cubicBezTo>
                <a:lnTo>
                  <a:pt x="611267" y="228600"/>
                </a:lnTo>
                <a:cubicBezTo>
                  <a:pt x="611267" y="167972"/>
                  <a:pt x="635353" y="109826"/>
                  <a:pt x="678223" y="66955"/>
                </a:cubicBezTo>
                <a:cubicBezTo>
                  <a:pt x="721093" y="24085"/>
                  <a:pt x="779239" y="0"/>
                  <a:pt x="839867" y="0"/>
                </a:cubicBezTo>
                <a:lnTo>
                  <a:pt x="1541299" y="0"/>
                </a:lnTo>
              </a:path>
            </a:pathLst>
          </a:custGeom>
          <a:ln w="1428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grpSp>
        <p:nvGrpSpPr>
          <p:cNvPr id="46" name="Group 46"/>
          <p:cNvGrpSpPr/>
          <p:nvPr/>
        </p:nvGrpSpPr>
        <p:grpSpPr>
          <a:xfrm>
            <a:off x="3022692" y="7593780"/>
            <a:ext cx="13644571" cy="1709398"/>
            <a:chOff x="0" y="0"/>
            <a:chExt cx="3593632" cy="45021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593632" cy="450212"/>
            </a:xfrm>
            <a:custGeom>
              <a:avLst/>
              <a:gdLst/>
              <a:ahLst/>
              <a:cxnLst/>
              <a:rect l="l" t="t" r="r" b="b"/>
              <a:pathLst>
                <a:path w="3593632" h="450212">
                  <a:moveTo>
                    <a:pt x="28937" y="0"/>
                  </a:moveTo>
                  <a:lnTo>
                    <a:pt x="3564694" y="0"/>
                  </a:lnTo>
                  <a:cubicBezTo>
                    <a:pt x="3572369" y="0"/>
                    <a:pt x="3579730" y="3049"/>
                    <a:pt x="3585156" y="8476"/>
                  </a:cubicBezTo>
                  <a:cubicBezTo>
                    <a:pt x="3590583" y="13902"/>
                    <a:pt x="3593632" y="21263"/>
                    <a:pt x="3593632" y="28937"/>
                  </a:cubicBezTo>
                  <a:lnTo>
                    <a:pt x="3593632" y="421274"/>
                  </a:lnTo>
                  <a:cubicBezTo>
                    <a:pt x="3593632" y="428949"/>
                    <a:pt x="3590583" y="436310"/>
                    <a:pt x="3585156" y="441736"/>
                  </a:cubicBezTo>
                  <a:cubicBezTo>
                    <a:pt x="3579730" y="447163"/>
                    <a:pt x="3572369" y="450212"/>
                    <a:pt x="3564694" y="450212"/>
                  </a:cubicBezTo>
                  <a:lnTo>
                    <a:pt x="28937" y="450212"/>
                  </a:lnTo>
                  <a:cubicBezTo>
                    <a:pt x="21263" y="450212"/>
                    <a:pt x="13902" y="447163"/>
                    <a:pt x="8476" y="441736"/>
                  </a:cubicBezTo>
                  <a:cubicBezTo>
                    <a:pt x="3049" y="436310"/>
                    <a:pt x="0" y="428949"/>
                    <a:pt x="0" y="421274"/>
                  </a:cubicBezTo>
                  <a:lnTo>
                    <a:pt x="0" y="28937"/>
                  </a:lnTo>
                  <a:cubicBezTo>
                    <a:pt x="0" y="21263"/>
                    <a:pt x="3049" y="13902"/>
                    <a:pt x="8476" y="8476"/>
                  </a:cubicBezTo>
                  <a:cubicBezTo>
                    <a:pt x="13902" y="3049"/>
                    <a:pt x="21263" y="0"/>
                    <a:pt x="2893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57150"/>
              <a:ext cx="3593632" cy="507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Обидві моделі навчаються та тестуються на ідентичному масиві реальних навчальних даних для обʼєктивного порівняння метрик.</a:t>
              </a:r>
            </a:p>
          </p:txBody>
        </p:sp>
      </p:grpSp>
      <p:grpSp>
        <p:nvGrpSpPr>
          <p:cNvPr id="49" name="Group 2">
            <a:extLst>
              <a:ext uri="{FF2B5EF4-FFF2-40B4-BE49-F238E27FC236}">
                <a16:creationId xmlns:a16="http://schemas.microsoft.com/office/drawing/2014/main" id="{878B5871-EBAF-0EF4-3FA0-ED17C2A1B704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50" name="Freeform 3">
              <a:extLst>
                <a:ext uri="{FF2B5EF4-FFF2-40B4-BE49-F238E27FC236}">
                  <a16:creationId xmlns:a16="http://schemas.microsoft.com/office/drawing/2014/main" id="{9B10D1E6-739B-6E65-B806-DA1D7717E24C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51" name="TextBox 4">
              <a:extLst>
                <a:ext uri="{FF2B5EF4-FFF2-40B4-BE49-F238E27FC236}">
                  <a16:creationId xmlns:a16="http://schemas.microsoft.com/office/drawing/2014/main" id="{9DA97DDF-1C67-42E8-5F4F-AAE87DF52BF6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2" name="Freeform 10">
            <a:extLst>
              <a:ext uri="{FF2B5EF4-FFF2-40B4-BE49-F238E27FC236}">
                <a16:creationId xmlns:a16="http://schemas.microsoft.com/office/drawing/2014/main" id="{A622FAF7-4F67-380D-DEB0-474E33C71E82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12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359227" y="2320925"/>
            <a:ext cx="10129704" cy="5989188"/>
          </a:xfrm>
          <a:custGeom>
            <a:avLst/>
            <a:gdLst/>
            <a:ahLst/>
            <a:cxnLst/>
            <a:rect l="l" t="t" r="r" b="b"/>
            <a:pathLst>
              <a:path w="10129704" h="5989188">
                <a:moveTo>
                  <a:pt x="0" y="0"/>
                </a:moveTo>
                <a:lnTo>
                  <a:pt x="10129705" y="0"/>
                </a:lnTo>
                <a:lnTo>
                  <a:pt x="10129705" y="5989188"/>
                </a:lnTo>
                <a:lnTo>
                  <a:pt x="0" y="59891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2" name="TextBox 12"/>
          <p:cNvSpPr txBox="1"/>
          <p:nvPr/>
        </p:nvSpPr>
        <p:spPr>
          <a:xfrm>
            <a:off x="0" y="581025"/>
            <a:ext cx="18288000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АРХІТЕКТУРА МОДУЛЯ SELF-ATTENTIVE KNOWLEDGE TRACING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3410483" y="8481625"/>
            <a:ext cx="13220025" cy="1203987"/>
            <a:chOff x="0" y="0"/>
            <a:chExt cx="3481817" cy="3170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81817" cy="317099"/>
            </a:xfrm>
            <a:custGeom>
              <a:avLst/>
              <a:gdLst/>
              <a:ahLst/>
              <a:cxnLst/>
              <a:rect l="l" t="t" r="r" b="b"/>
              <a:pathLst>
                <a:path w="3481817" h="317099">
                  <a:moveTo>
                    <a:pt x="29867" y="0"/>
                  </a:moveTo>
                  <a:lnTo>
                    <a:pt x="3451951" y="0"/>
                  </a:lnTo>
                  <a:cubicBezTo>
                    <a:pt x="3468446" y="0"/>
                    <a:pt x="3481817" y="13372"/>
                    <a:pt x="3481817" y="29867"/>
                  </a:cubicBezTo>
                  <a:lnTo>
                    <a:pt x="3481817" y="287233"/>
                  </a:lnTo>
                  <a:cubicBezTo>
                    <a:pt x="3481817" y="303728"/>
                    <a:pt x="3468446" y="317099"/>
                    <a:pt x="3451951" y="317099"/>
                  </a:cubicBezTo>
                  <a:lnTo>
                    <a:pt x="29867" y="317099"/>
                  </a:lnTo>
                  <a:cubicBezTo>
                    <a:pt x="13372" y="317099"/>
                    <a:pt x="0" y="303728"/>
                    <a:pt x="0" y="287233"/>
                  </a:cubicBezTo>
                  <a:lnTo>
                    <a:pt x="0" y="29867"/>
                  </a:lnTo>
                  <a:cubicBezTo>
                    <a:pt x="0" y="13372"/>
                    <a:pt x="13372" y="0"/>
                    <a:pt x="2986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481817" cy="37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Має здатність виявляти складні нелінійні залежності у масштабних датасетах, проте не має контекстно-залежних векторних представлень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408889" y="2320925"/>
            <a:ext cx="4850411" cy="1203987"/>
            <a:chOff x="0" y="0"/>
            <a:chExt cx="1277474" cy="3170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77474" cy="317099"/>
            </a:xfrm>
            <a:custGeom>
              <a:avLst/>
              <a:gdLst/>
              <a:ahLst/>
              <a:cxnLst/>
              <a:rect l="l" t="t" r="r" b="b"/>
              <a:pathLst>
                <a:path w="1277474" h="317099">
                  <a:moveTo>
                    <a:pt x="81403" y="0"/>
                  </a:moveTo>
                  <a:lnTo>
                    <a:pt x="1196071" y="0"/>
                  </a:lnTo>
                  <a:cubicBezTo>
                    <a:pt x="1241029" y="0"/>
                    <a:pt x="1277474" y="36445"/>
                    <a:pt x="1277474" y="81403"/>
                  </a:cubicBezTo>
                  <a:lnTo>
                    <a:pt x="1277474" y="235696"/>
                  </a:lnTo>
                  <a:cubicBezTo>
                    <a:pt x="1277474" y="280654"/>
                    <a:pt x="1241029" y="317099"/>
                    <a:pt x="1196071" y="317099"/>
                  </a:cubicBezTo>
                  <a:lnTo>
                    <a:pt x="81403" y="317099"/>
                  </a:lnTo>
                  <a:cubicBezTo>
                    <a:pt x="59814" y="317099"/>
                    <a:pt x="39108" y="308523"/>
                    <a:pt x="23842" y="293257"/>
                  </a:cubicBezTo>
                  <a:cubicBezTo>
                    <a:pt x="8576" y="277991"/>
                    <a:pt x="0" y="257286"/>
                    <a:pt x="0" y="235696"/>
                  </a:cubicBezTo>
                  <a:lnTo>
                    <a:pt x="0" y="81403"/>
                  </a:lnTo>
                  <a:cubicBezTo>
                    <a:pt x="0" y="36445"/>
                    <a:pt x="36445" y="0"/>
                    <a:pt x="814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277474" cy="37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Паралельно оцінює всю історію взаємодій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08889" y="4541507"/>
            <a:ext cx="4850411" cy="1203987"/>
            <a:chOff x="0" y="0"/>
            <a:chExt cx="1277474" cy="31709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77474" cy="317099"/>
            </a:xfrm>
            <a:custGeom>
              <a:avLst/>
              <a:gdLst/>
              <a:ahLst/>
              <a:cxnLst/>
              <a:rect l="l" t="t" r="r" b="b"/>
              <a:pathLst>
                <a:path w="1277474" h="317099">
                  <a:moveTo>
                    <a:pt x="81403" y="0"/>
                  </a:moveTo>
                  <a:lnTo>
                    <a:pt x="1196071" y="0"/>
                  </a:lnTo>
                  <a:cubicBezTo>
                    <a:pt x="1241029" y="0"/>
                    <a:pt x="1277474" y="36445"/>
                    <a:pt x="1277474" y="81403"/>
                  </a:cubicBezTo>
                  <a:lnTo>
                    <a:pt x="1277474" y="235696"/>
                  </a:lnTo>
                  <a:cubicBezTo>
                    <a:pt x="1277474" y="280654"/>
                    <a:pt x="1241029" y="317099"/>
                    <a:pt x="1196071" y="317099"/>
                  </a:cubicBezTo>
                  <a:lnTo>
                    <a:pt x="81403" y="317099"/>
                  </a:lnTo>
                  <a:cubicBezTo>
                    <a:pt x="59814" y="317099"/>
                    <a:pt x="39108" y="308523"/>
                    <a:pt x="23842" y="293257"/>
                  </a:cubicBezTo>
                  <a:cubicBezTo>
                    <a:pt x="8576" y="277991"/>
                    <a:pt x="0" y="257286"/>
                    <a:pt x="0" y="235696"/>
                  </a:cubicBezTo>
                  <a:lnTo>
                    <a:pt x="0" y="81403"/>
                  </a:lnTo>
                  <a:cubicBezTo>
                    <a:pt x="0" y="36445"/>
                    <a:pt x="36445" y="0"/>
                    <a:pt x="814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277474" cy="37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Динамічно обчислює “вагу уваги”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408889" y="6350639"/>
            <a:ext cx="4850411" cy="1664095"/>
            <a:chOff x="0" y="0"/>
            <a:chExt cx="1277474" cy="438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77474" cy="438280"/>
            </a:xfrm>
            <a:custGeom>
              <a:avLst/>
              <a:gdLst/>
              <a:ahLst/>
              <a:cxnLst/>
              <a:rect l="l" t="t" r="r" b="b"/>
              <a:pathLst>
                <a:path w="1277474" h="438280">
                  <a:moveTo>
                    <a:pt x="81403" y="0"/>
                  </a:moveTo>
                  <a:lnTo>
                    <a:pt x="1196071" y="0"/>
                  </a:lnTo>
                  <a:cubicBezTo>
                    <a:pt x="1241029" y="0"/>
                    <a:pt x="1277474" y="36445"/>
                    <a:pt x="1277474" y="81403"/>
                  </a:cubicBezTo>
                  <a:lnTo>
                    <a:pt x="1277474" y="356877"/>
                  </a:lnTo>
                  <a:cubicBezTo>
                    <a:pt x="1277474" y="378467"/>
                    <a:pt x="1268898" y="399172"/>
                    <a:pt x="1253632" y="414438"/>
                  </a:cubicBezTo>
                  <a:cubicBezTo>
                    <a:pt x="1238366" y="429704"/>
                    <a:pt x="1217661" y="438280"/>
                    <a:pt x="1196071" y="438280"/>
                  </a:cubicBezTo>
                  <a:lnTo>
                    <a:pt x="81403" y="438280"/>
                  </a:lnTo>
                  <a:cubicBezTo>
                    <a:pt x="59814" y="438280"/>
                    <a:pt x="39108" y="429704"/>
                    <a:pt x="23842" y="414438"/>
                  </a:cubicBezTo>
                  <a:cubicBezTo>
                    <a:pt x="8576" y="399172"/>
                    <a:pt x="0" y="378467"/>
                    <a:pt x="0" y="356877"/>
                  </a:cubicBezTo>
                  <a:lnTo>
                    <a:pt x="0" y="81403"/>
                  </a:lnTo>
                  <a:cubicBezTo>
                    <a:pt x="0" y="36445"/>
                    <a:pt x="36445" y="0"/>
                    <a:pt x="814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277474" cy="495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Висока точність захоплення довготривалих залежностей</a:t>
              </a:r>
            </a:p>
          </p:txBody>
        </p:sp>
      </p:grpSp>
      <p:grpSp>
        <p:nvGrpSpPr>
          <p:cNvPr id="25" name="Group 2">
            <a:extLst>
              <a:ext uri="{FF2B5EF4-FFF2-40B4-BE49-F238E27FC236}">
                <a16:creationId xmlns:a16="http://schemas.microsoft.com/office/drawing/2014/main" id="{9215C696-B4A7-0D3E-5D0D-22BF4C5333C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2D815A92-E0C6-FEF0-AB4E-9AFA688174F4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CF7C6B5D-ADC4-DE41-6DD6-4A5F113081BF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10">
            <a:extLst>
              <a:ext uri="{FF2B5EF4-FFF2-40B4-BE49-F238E27FC236}">
                <a16:creationId xmlns:a16="http://schemas.microsoft.com/office/drawing/2014/main" id="{32D4452D-34E1-7B72-1C23-144676F421A7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13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158300" y="2172098"/>
            <a:ext cx="9819556" cy="5842636"/>
          </a:xfrm>
          <a:custGeom>
            <a:avLst/>
            <a:gdLst/>
            <a:ahLst/>
            <a:cxnLst/>
            <a:rect l="l" t="t" r="r" b="b"/>
            <a:pathLst>
              <a:path w="9819556" h="5842636">
                <a:moveTo>
                  <a:pt x="0" y="0"/>
                </a:moveTo>
                <a:lnTo>
                  <a:pt x="9819556" y="0"/>
                </a:lnTo>
                <a:lnTo>
                  <a:pt x="9819556" y="5842636"/>
                </a:lnTo>
                <a:lnTo>
                  <a:pt x="0" y="5842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12" name="Group 12"/>
          <p:cNvGrpSpPr/>
          <p:nvPr/>
        </p:nvGrpSpPr>
        <p:grpSpPr>
          <a:xfrm>
            <a:off x="3390267" y="8420026"/>
            <a:ext cx="12795480" cy="1203987"/>
            <a:chOff x="0" y="0"/>
            <a:chExt cx="3370003" cy="3170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370003" cy="317099"/>
            </a:xfrm>
            <a:custGeom>
              <a:avLst/>
              <a:gdLst/>
              <a:ahLst/>
              <a:cxnLst/>
              <a:rect l="l" t="t" r="r" b="b"/>
              <a:pathLst>
                <a:path w="3370003" h="317099">
                  <a:moveTo>
                    <a:pt x="30858" y="0"/>
                  </a:moveTo>
                  <a:lnTo>
                    <a:pt x="3339145" y="0"/>
                  </a:lnTo>
                  <a:cubicBezTo>
                    <a:pt x="3356187" y="0"/>
                    <a:pt x="3370003" y="13815"/>
                    <a:pt x="3370003" y="30858"/>
                  </a:cubicBezTo>
                  <a:lnTo>
                    <a:pt x="3370003" y="286242"/>
                  </a:lnTo>
                  <a:cubicBezTo>
                    <a:pt x="3370003" y="303284"/>
                    <a:pt x="3356187" y="317099"/>
                    <a:pt x="3339145" y="317099"/>
                  </a:cubicBezTo>
                  <a:lnTo>
                    <a:pt x="30858" y="317099"/>
                  </a:lnTo>
                  <a:cubicBezTo>
                    <a:pt x="13815" y="317099"/>
                    <a:pt x="0" y="303284"/>
                    <a:pt x="0" y="286242"/>
                  </a:cubicBezTo>
                  <a:lnTo>
                    <a:pt x="0" y="30858"/>
                  </a:lnTo>
                  <a:cubicBezTo>
                    <a:pt x="0" y="13815"/>
                    <a:pt x="13815" y="0"/>
                    <a:pt x="308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370003" cy="37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Забезпечує абсолютну прозорість логіки рішень, проте нездатна фіксувати перехресні зв'язки між різними навичками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408889" y="2320925"/>
            <a:ext cx="4850411" cy="1664095"/>
            <a:chOff x="0" y="0"/>
            <a:chExt cx="1277474" cy="438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7474" cy="438280"/>
            </a:xfrm>
            <a:custGeom>
              <a:avLst/>
              <a:gdLst/>
              <a:ahLst/>
              <a:cxnLst/>
              <a:rect l="l" t="t" r="r" b="b"/>
              <a:pathLst>
                <a:path w="1277474" h="438280">
                  <a:moveTo>
                    <a:pt x="81403" y="0"/>
                  </a:moveTo>
                  <a:lnTo>
                    <a:pt x="1196071" y="0"/>
                  </a:lnTo>
                  <a:cubicBezTo>
                    <a:pt x="1241029" y="0"/>
                    <a:pt x="1277474" y="36445"/>
                    <a:pt x="1277474" y="81403"/>
                  </a:cubicBezTo>
                  <a:lnTo>
                    <a:pt x="1277474" y="356877"/>
                  </a:lnTo>
                  <a:cubicBezTo>
                    <a:pt x="1277474" y="378467"/>
                    <a:pt x="1268898" y="399172"/>
                    <a:pt x="1253632" y="414438"/>
                  </a:cubicBezTo>
                  <a:cubicBezTo>
                    <a:pt x="1238366" y="429704"/>
                    <a:pt x="1217661" y="438280"/>
                    <a:pt x="1196071" y="438280"/>
                  </a:cubicBezTo>
                  <a:lnTo>
                    <a:pt x="81403" y="438280"/>
                  </a:lnTo>
                  <a:cubicBezTo>
                    <a:pt x="59814" y="438280"/>
                    <a:pt x="39108" y="429704"/>
                    <a:pt x="23842" y="414438"/>
                  </a:cubicBezTo>
                  <a:cubicBezTo>
                    <a:pt x="8576" y="399172"/>
                    <a:pt x="0" y="378467"/>
                    <a:pt x="0" y="356877"/>
                  </a:cubicBezTo>
                  <a:lnTo>
                    <a:pt x="0" y="81403"/>
                  </a:lnTo>
                  <a:cubicBezTo>
                    <a:pt x="0" y="36445"/>
                    <a:pt x="36445" y="0"/>
                    <a:pt x="814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77474" cy="495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Моделює навичку як жорсткий бінарний стан: засвоєно / не засвоєно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408889" y="4541507"/>
            <a:ext cx="4850411" cy="1203987"/>
            <a:chOff x="0" y="0"/>
            <a:chExt cx="1277474" cy="3170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7474" cy="317099"/>
            </a:xfrm>
            <a:custGeom>
              <a:avLst/>
              <a:gdLst/>
              <a:ahLst/>
              <a:cxnLst/>
              <a:rect l="l" t="t" r="r" b="b"/>
              <a:pathLst>
                <a:path w="1277474" h="317099">
                  <a:moveTo>
                    <a:pt x="81403" y="0"/>
                  </a:moveTo>
                  <a:lnTo>
                    <a:pt x="1196071" y="0"/>
                  </a:lnTo>
                  <a:cubicBezTo>
                    <a:pt x="1241029" y="0"/>
                    <a:pt x="1277474" y="36445"/>
                    <a:pt x="1277474" y="81403"/>
                  </a:cubicBezTo>
                  <a:lnTo>
                    <a:pt x="1277474" y="235696"/>
                  </a:lnTo>
                  <a:cubicBezTo>
                    <a:pt x="1277474" y="280654"/>
                    <a:pt x="1241029" y="317099"/>
                    <a:pt x="1196071" y="317099"/>
                  </a:cubicBezTo>
                  <a:lnTo>
                    <a:pt x="81403" y="317099"/>
                  </a:lnTo>
                  <a:cubicBezTo>
                    <a:pt x="59814" y="317099"/>
                    <a:pt x="39108" y="308523"/>
                    <a:pt x="23842" y="293257"/>
                  </a:cubicBezTo>
                  <a:cubicBezTo>
                    <a:pt x="8576" y="277991"/>
                    <a:pt x="0" y="257286"/>
                    <a:pt x="0" y="235696"/>
                  </a:cubicBezTo>
                  <a:lnTo>
                    <a:pt x="0" y="81403"/>
                  </a:lnTo>
                  <a:cubicBezTo>
                    <a:pt x="0" y="36445"/>
                    <a:pt x="36445" y="0"/>
                    <a:pt x="814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77474" cy="37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Викладач розуміє кожну ймовірність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08889" y="6350639"/>
            <a:ext cx="4850411" cy="1664095"/>
            <a:chOff x="0" y="0"/>
            <a:chExt cx="1277474" cy="438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7474" cy="438280"/>
            </a:xfrm>
            <a:custGeom>
              <a:avLst/>
              <a:gdLst/>
              <a:ahLst/>
              <a:cxnLst/>
              <a:rect l="l" t="t" r="r" b="b"/>
              <a:pathLst>
                <a:path w="1277474" h="438280">
                  <a:moveTo>
                    <a:pt x="81403" y="0"/>
                  </a:moveTo>
                  <a:lnTo>
                    <a:pt x="1196071" y="0"/>
                  </a:lnTo>
                  <a:cubicBezTo>
                    <a:pt x="1241029" y="0"/>
                    <a:pt x="1277474" y="36445"/>
                    <a:pt x="1277474" y="81403"/>
                  </a:cubicBezTo>
                  <a:lnTo>
                    <a:pt x="1277474" y="356877"/>
                  </a:lnTo>
                  <a:cubicBezTo>
                    <a:pt x="1277474" y="378467"/>
                    <a:pt x="1268898" y="399172"/>
                    <a:pt x="1253632" y="414438"/>
                  </a:cubicBezTo>
                  <a:cubicBezTo>
                    <a:pt x="1238366" y="429704"/>
                    <a:pt x="1217661" y="438280"/>
                    <a:pt x="1196071" y="438280"/>
                  </a:cubicBezTo>
                  <a:lnTo>
                    <a:pt x="81403" y="438280"/>
                  </a:lnTo>
                  <a:cubicBezTo>
                    <a:pt x="59814" y="438280"/>
                    <a:pt x="39108" y="429704"/>
                    <a:pt x="23842" y="414438"/>
                  </a:cubicBezTo>
                  <a:cubicBezTo>
                    <a:pt x="8576" y="399172"/>
                    <a:pt x="0" y="378467"/>
                    <a:pt x="0" y="356877"/>
                  </a:cubicBezTo>
                  <a:lnTo>
                    <a:pt x="0" y="81403"/>
                  </a:lnTo>
                  <a:cubicBezTo>
                    <a:pt x="0" y="36445"/>
                    <a:pt x="36445" y="0"/>
                    <a:pt x="8140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77474" cy="495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Не бачить загального контексту та перехресних звʼязків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88458" y="3624410"/>
            <a:ext cx="2759241" cy="1469006"/>
            <a:chOff x="0" y="0"/>
            <a:chExt cx="726714" cy="3868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26714" cy="386899"/>
            </a:xfrm>
            <a:custGeom>
              <a:avLst/>
              <a:gdLst/>
              <a:ahLst/>
              <a:cxnLst/>
              <a:rect l="l" t="t" r="r" b="b"/>
              <a:pathLst>
                <a:path w="726714" h="386899">
                  <a:moveTo>
                    <a:pt x="143097" y="0"/>
                  </a:moveTo>
                  <a:lnTo>
                    <a:pt x="583617" y="0"/>
                  </a:lnTo>
                  <a:cubicBezTo>
                    <a:pt x="621569" y="0"/>
                    <a:pt x="657966" y="15076"/>
                    <a:pt x="684802" y="41912"/>
                  </a:cubicBezTo>
                  <a:cubicBezTo>
                    <a:pt x="711637" y="68748"/>
                    <a:pt x="726714" y="105145"/>
                    <a:pt x="726714" y="143097"/>
                  </a:cubicBezTo>
                  <a:lnTo>
                    <a:pt x="726714" y="243802"/>
                  </a:lnTo>
                  <a:cubicBezTo>
                    <a:pt x="726714" y="322832"/>
                    <a:pt x="662647" y="386899"/>
                    <a:pt x="583617" y="386899"/>
                  </a:cubicBezTo>
                  <a:lnTo>
                    <a:pt x="143097" y="386899"/>
                  </a:lnTo>
                  <a:cubicBezTo>
                    <a:pt x="64067" y="386899"/>
                    <a:pt x="0" y="322832"/>
                    <a:pt x="0" y="243802"/>
                  </a:cubicBezTo>
                  <a:lnTo>
                    <a:pt x="0" y="143097"/>
                  </a:lnTo>
                  <a:cubicBezTo>
                    <a:pt x="0" y="64067"/>
                    <a:pt x="64067" y="0"/>
                    <a:pt x="14309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726714" cy="424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0" y="175733"/>
            <a:ext cx="18288000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АРХІТЕКТУРА МОДУЛЯ BAYESIAN</a:t>
            </a:r>
          </a:p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KNOWLEDGE TRACING</a:t>
            </a:r>
          </a:p>
        </p:txBody>
      </p:sp>
      <p:grpSp>
        <p:nvGrpSpPr>
          <p:cNvPr id="28" name="Group 28"/>
          <p:cNvGrpSpPr/>
          <p:nvPr/>
        </p:nvGrpSpPr>
        <p:grpSpPr>
          <a:xfrm rot="-562881">
            <a:off x="7505699" y="3506301"/>
            <a:ext cx="1451563" cy="236217"/>
            <a:chOff x="0" y="0"/>
            <a:chExt cx="382305" cy="6221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2305" cy="62214"/>
            </a:xfrm>
            <a:custGeom>
              <a:avLst/>
              <a:gdLst/>
              <a:ahLst/>
              <a:cxnLst/>
              <a:rect l="l" t="t" r="r" b="b"/>
              <a:pathLst>
                <a:path w="382305" h="62214">
                  <a:moveTo>
                    <a:pt x="31107" y="0"/>
                  </a:moveTo>
                  <a:lnTo>
                    <a:pt x="351198" y="0"/>
                  </a:lnTo>
                  <a:cubicBezTo>
                    <a:pt x="359448" y="0"/>
                    <a:pt x="367360" y="3277"/>
                    <a:pt x="373194" y="9111"/>
                  </a:cubicBezTo>
                  <a:cubicBezTo>
                    <a:pt x="379027" y="14945"/>
                    <a:pt x="382305" y="22857"/>
                    <a:pt x="382305" y="31107"/>
                  </a:cubicBezTo>
                  <a:lnTo>
                    <a:pt x="382305" y="31107"/>
                  </a:lnTo>
                  <a:cubicBezTo>
                    <a:pt x="382305" y="39357"/>
                    <a:pt x="379027" y="47269"/>
                    <a:pt x="373194" y="53103"/>
                  </a:cubicBezTo>
                  <a:cubicBezTo>
                    <a:pt x="367360" y="58936"/>
                    <a:pt x="359448" y="62214"/>
                    <a:pt x="351198" y="62214"/>
                  </a:cubicBezTo>
                  <a:lnTo>
                    <a:pt x="31107" y="62214"/>
                  </a:lnTo>
                  <a:cubicBezTo>
                    <a:pt x="22857" y="62214"/>
                    <a:pt x="14945" y="58936"/>
                    <a:pt x="9111" y="53103"/>
                  </a:cubicBezTo>
                  <a:cubicBezTo>
                    <a:pt x="3277" y="47269"/>
                    <a:pt x="0" y="39357"/>
                    <a:pt x="0" y="31107"/>
                  </a:cubicBezTo>
                  <a:lnTo>
                    <a:pt x="0" y="31107"/>
                  </a:lnTo>
                  <a:cubicBezTo>
                    <a:pt x="0" y="22857"/>
                    <a:pt x="3277" y="14945"/>
                    <a:pt x="9111" y="9111"/>
                  </a:cubicBezTo>
                  <a:cubicBezTo>
                    <a:pt x="14945" y="3277"/>
                    <a:pt x="22857" y="0"/>
                    <a:pt x="31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82305" cy="100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386031">
            <a:off x="5163718" y="3451316"/>
            <a:ext cx="1451563" cy="236217"/>
            <a:chOff x="0" y="0"/>
            <a:chExt cx="382305" cy="6221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82305" cy="62214"/>
            </a:xfrm>
            <a:custGeom>
              <a:avLst/>
              <a:gdLst/>
              <a:ahLst/>
              <a:cxnLst/>
              <a:rect l="l" t="t" r="r" b="b"/>
              <a:pathLst>
                <a:path w="382305" h="62214">
                  <a:moveTo>
                    <a:pt x="31107" y="0"/>
                  </a:moveTo>
                  <a:lnTo>
                    <a:pt x="351198" y="0"/>
                  </a:lnTo>
                  <a:cubicBezTo>
                    <a:pt x="359448" y="0"/>
                    <a:pt x="367360" y="3277"/>
                    <a:pt x="373194" y="9111"/>
                  </a:cubicBezTo>
                  <a:cubicBezTo>
                    <a:pt x="379027" y="14945"/>
                    <a:pt x="382305" y="22857"/>
                    <a:pt x="382305" y="31107"/>
                  </a:cubicBezTo>
                  <a:lnTo>
                    <a:pt x="382305" y="31107"/>
                  </a:lnTo>
                  <a:cubicBezTo>
                    <a:pt x="382305" y="39357"/>
                    <a:pt x="379027" y="47269"/>
                    <a:pt x="373194" y="53103"/>
                  </a:cubicBezTo>
                  <a:cubicBezTo>
                    <a:pt x="367360" y="58936"/>
                    <a:pt x="359448" y="62214"/>
                    <a:pt x="351198" y="62214"/>
                  </a:cubicBezTo>
                  <a:lnTo>
                    <a:pt x="31107" y="62214"/>
                  </a:lnTo>
                  <a:cubicBezTo>
                    <a:pt x="22857" y="62214"/>
                    <a:pt x="14945" y="58936"/>
                    <a:pt x="9111" y="53103"/>
                  </a:cubicBezTo>
                  <a:cubicBezTo>
                    <a:pt x="3277" y="47269"/>
                    <a:pt x="0" y="39357"/>
                    <a:pt x="0" y="31107"/>
                  </a:cubicBezTo>
                  <a:lnTo>
                    <a:pt x="0" y="31107"/>
                  </a:lnTo>
                  <a:cubicBezTo>
                    <a:pt x="0" y="22857"/>
                    <a:pt x="3277" y="14945"/>
                    <a:pt x="9111" y="9111"/>
                  </a:cubicBezTo>
                  <a:cubicBezTo>
                    <a:pt x="14945" y="3277"/>
                    <a:pt x="22857" y="0"/>
                    <a:pt x="31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382305" cy="100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2">
            <a:extLst>
              <a:ext uri="{FF2B5EF4-FFF2-40B4-BE49-F238E27FC236}">
                <a16:creationId xmlns:a16="http://schemas.microsoft.com/office/drawing/2014/main" id="{EA1036EA-47B7-8381-1EA4-A991969D1EAB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E5EAAC9A-6DFF-2A40-7CA9-D86462F96F0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1CA9B29F-D591-D5EA-A66C-39AD9CF6D121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Freeform 10">
            <a:extLst>
              <a:ext uri="{FF2B5EF4-FFF2-40B4-BE49-F238E27FC236}">
                <a16:creationId xmlns:a16="http://schemas.microsoft.com/office/drawing/2014/main" id="{45D54600-124D-0555-04C0-6CA88D43360E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90267" y="8054313"/>
            <a:ext cx="12795480" cy="1203987"/>
            <a:chOff x="0" y="0"/>
            <a:chExt cx="3370003" cy="3170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70003" cy="317099"/>
            </a:xfrm>
            <a:custGeom>
              <a:avLst/>
              <a:gdLst/>
              <a:ahLst/>
              <a:cxnLst/>
              <a:rect l="l" t="t" r="r" b="b"/>
              <a:pathLst>
                <a:path w="3370003" h="317099">
                  <a:moveTo>
                    <a:pt x="30858" y="0"/>
                  </a:moveTo>
                  <a:lnTo>
                    <a:pt x="3339145" y="0"/>
                  </a:lnTo>
                  <a:cubicBezTo>
                    <a:pt x="3356187" y="0"/>
                    <a:pt x="3370003" y="13815"/>
                    <a:pt x="3370003" y="30858"/>
                  </a:cubicBezTo>
                  <a:lnTo>
                    <a:pt x="3370003" y="286242"/>
                  </a:lnTo>
                  <a:cubicBezTo>
                    <a:pt x="3370003" y="303284"/>
                    <a:pt x="3356187" y="317099"/>
                    <a:pt x="3339145" y="317099"/>
                  </a:cubicBezTo>
                  <a:lnTo>
                    <a:pt x="30858" y="317099"/>
                  </a:lnTo>
                  <a:cubicBezTo>
                    <a:pt x="13815" y="317099"/>
                    <a:pt x="0" y="303284"/>
                    <a:pt x="0" y="286242"/>
                  </a:cubicBezTo>
                  <a:lnTo>
                    <a:pt x="0" y="30858"/>
                  </a:lnTo>
                  <a:cubicBezTo>
                    <a:pt x="0" y="13815"/>
                    <a:pt x="13815" y="0"/>
                    <a:pt x="308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370003" cy="3742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Для забезпечення методологічно обґрунтованого порівняння BKT було розширено фактором забування та оптимізовано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88458" y="3624410"/>
            <a:ext cx="2759241" cy="1469006"/>
            <a:chOff x="0" y="0"/>
            <a:chExt cx="726714" cy="3868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6714" cy="386899"/>
            </a:xfrm>
            <a:custGeom>
              <a:avLst/>
              <a:gdLst/>
              <a:ahLst/>
              <a:cxnLst/>
              <a:rect l="l" t="t" r="r" b="b"/>
              <a:pathLst>
                <a:path w="726714" h="386899">
                  <a:moveTo>
                    <a:pt x="143097" y="0"/>
                  </a:moveTo>
                  <a:lnTo>
                    <a:pt x="583617" y="0"/>
                  </a:lnTo>
                  <a:cubicBezTo>
                    <a:pt x="621569" y="0"/>
                    <a:pt x="657966" y="15076"/>
                    <a:pt x="684802" y="41912"/>
                  </a:cubicBezTo>
                  <a:cubicBezTo>
                    <a:pt x="711637" y="68748"/>
                    <a:pt x="726714" y="105145"/>
                    <a:pt x="726714" y="143097"/>
                  </a:cubicBezTo>
                  <a:lnTo>
                    <a:pt x="726714" y="243802"/>
                  </a:lnTo>
                  <a:cubicBezTo>
                    <a:pt x="726714" y="322832"/>
                    <a:pt x="662647" y="386899"/>
                    <a:pt x="583617" y="386899"/>
                  </a:cubicBezTo>
                  <a:lnTo>
                    <a:pt x="143097" y="386899"/>
                  </a:lnTo>
                  <a:cubicBezTo>
                    <a:pt x="64067" y="386899"/>
                    <a:pt x="0" y="322832"/>
                    <a:pt x="0" y="243802"/>
                  </a:cubicBezTo>
                  <a:lnTo>
                    <a:pt x="0" y="143097"/>
                  </a:lnTo>
                  <a:cubicBezTo>
                    <a:pt x="0" y="64067"/>
                    <a:pt x="64067" y="0"/>
                    <a:pt x="14309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26714" cy="424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62881">
            <a:off x="7505699" y="3506301"/>
            <a:ext cx="1451563" cy="236217"/>
            <a:chOff x="0" y="0"/>
            <a:chExt cx="382305" cy="622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2305" cy="62214"/>
            </a:xfrm>
            <a:custGeom>
              <a:avLst/>
              <a:gdLst/>
              <a:ahLst/>
              <a:cxnLst/>
              <a:rect l="l" t="t" r="r" b="b"/>
              <a:pathLst>
                <a:path w="382305" h="62214">
                  <a:moveTo>
                    <a:pt x="31107" y="0"/>
                  </a:moveTo>
                  <a:lnTo>
                    <a:pt x="351198" y="0"/>
                  </a:lnTo>
                  <a:cubicBezTo>
                    <a:pt x="359448" y="0"/>
                    <a:pt x="367360" y="3277"/>
                    <a:pt x="373194" y="9111"/>
                  </a:cubicBezTo>
                  <a:cubicBezTo>
                    <a:pt x="379027" y="14945"/>
                    <a:pt x="382305" y="22857"/>
                    <a:pt x="382305" y="31107"/>
                  </a:cubicBezTo>
                  <a:lnTo>
                    <a:pt x="382305" y="31107"/>
                  </a:lnTo>
                  <a:cubicBezTo>
                    <a:pt x="382305" y="39357"/>
                    <a:pt x="379027" y="47269"/>
                    <a:pt x="373194" y="53103"/>
                  </a:cubicBezTo>
                  <a:cubicBezTo>
                    <a:pt x="367360" y="58936"/>
                    <a:pt x="359448" y="62214"/>
                    <a:pt x="351198" y="62214"/>
                  </a:cubicBezTo>
                  <a:lnTo>
                    <a:pt x="31107" y="62214"/>
                  </a:lnTo>
                  <a:cubicBezTo>
                    <a:pt x="22857" y="62214"/>
                    <a:pt x="14945" y="58936"/>
                    <a:pt x="9111" y="53103"/>
                  </a:cubicBezTo>
                  <a:cubicBezTo>
                    <a:pt x="3277" y="47269"/>
                    <a:pt x="0" y="39357"/>
                    <a:pt x="0" y="31107"/>
                  </a:cubicBezTo>
                  <a:lnTo>
                    <a:pt x="0" y="31107"/>
                  </a:lnTo>
                  <a:cubicBezTo>
                    <a:pt x="0" y="22857"/>
                    <a:pt x="3277" y="14945"/>
                    <a:pt x="9111" y="9111"/>
                  </a:cubicBezTo>
                  <a:cubicBezTo>
                    <a:pt x="14945" y="3277"/>
                    <a:pt x="22857" y="0"/>
                    <a:pt x="31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382305" cy="100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386031">
            <a:off x="5163718" y="3451316"/>
            <a:ext cx="1451563" cy="236217"/>
            <a:chOff x="0" y="0"/>
            <a:chExt cx="382305" cy="622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2305" cy="62214"/>
            </a:xfrm>
            <a:custGeom>
              <a:avLst/>
              <a:gdLst/>
              <a:ahLst/>
              <a:cxnLst/>
              <a:rect l="l" t="t" r="r" b="b"/>
              <a:pathLst>
                <a:path w="382305" h="62214">
                  <a:moveTo>
                    <a:pt x="31107" y="0"/>
                  </a:moveTo>
                  <a:lnTo>
                    <a:pt x="351198" y="0"/>
                  </a:lnTo>
                  <a:cubicBezTo>
                    <a:pt x="359448" y="0"/>
                    <a:pt x="367360" y="3277"/>
                    <a:pt x="373194" y="9111"/>
                  </a:cubicBezTo>
                  <a:cubicBezTo>
                    <a:pt x="379027" y="14945"/>
                    <a:pt x="382305" y="22857"/>
                    <a:pt x="382305" y="31107"/>
                  </a:cubicBezTo>
                  <a:lnTo>
                    <a:pt x="382305" y="31107"/>
                  </a:lnTo>
                  <a:cubicBezTo>
                    <a:pt x="382305" y="39357"/>
                    <a:pt x="379027" y="47269"/>
                    <a:pt x="373194" y="53103"/>
                  </a:cubicBezTo>
                  <a:cubicBezTo>
                    <a:pt x="367360" y="58936"/>
                    <a:pt x="359448" y="62214"/>
                    <a:pt x="351198" y="62214"/>
                  </a:cubicBezTo>
                  <a:lnTo>
                    <a:pt x="31107" y="62214"/>
                  </a:lnTo>
                  <a:cubicBezTo>
                    <a:pt x="22857" y="62214"/>
                    <a:pt x="14945" y="58936"/>
                    <a:pt x="9111" y="53103"/>
                  </a:cubicBezTo>
                  <a:cubicBezTo>
                    <a:pt x="3277" y="47269"/>
                    <a:pt x="0" y="39357"/>
                    <a:pt x="0" y="31107"/>
                  </a:cubicBezTo>
                  <a:lnTo>
                    <a:pt x="0" y="31107"/>
                  </a:lnTo>
                  <a:cubicBezTo>
                    <a:pt x="0" y="22857"/>
                    <a:pt x="3277" y="14945"/>
                    <a:pt x="9111" y="9111"/>
                  </a:cubicBezTo>
                  <a:cubicBezTo>
                    <a:pt x="14945" y="3277"/>
                    <a:pt x="22857" y="0"/>
                    <a:pt x="3110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A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82305" cy="1003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264245" y="2767622"/>
            <a:ext cx="11047523" cy="4651588"/>
          </a:xfrm>
          <a:custGeom>
            <a:avLst/>
            <a:gdLst/>
            <a:ahLst/>
            <a:cxnLst/>
            <a:rect l="l" t="t" r="r" b="b"/>
            <a:pathLst>
              <a:path w="11047523" h="4651588">
                <a:moveTo>
                  <a:pt x="0" y="0"/>
                </a:moveTo>
                <a:lnTo>
                  <a:pt x="11047523" y="0"/>
                </a:lnTo>
                <a:lnTo>
                  <a:pt x="11047523" y="4651588"/>
                </a:lnTo>
                <a:lnTo>
                  <a:pt x="0" y="4651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24" name="TextBox 24"/>
          <p:cNvSpPr txBox="1"/>
          <p:nvPr/>
        </p:nvSpPr>
        <p:spPr>
          <a:xfrm>
            <a:off x="0" y="175733"/>
            <a:ext cx="18288000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ОПТИМІЗАЦІЯ ЕТАЛОННОЇ МОДЕЛІ BAYESIAN</a:t>
            </a:r>
          </a:p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KNOWLEDGE TRACING</a:t>
            </a: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B362DACB-7159-B7A1-EEDF-6D035F218112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178452E8-4FDB-C212-B4B6-F5012EE86C1E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673F00DC-30F8-3E25-3244-3A5E7035836D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Freeform 10">
            <a:extLst>
              <a:ext uri="{FF2B5EF4-FFF2-40B4-BE49-F238E27FC236}">
                <a16:creationId xmlns:a16="http://schemas.microsoft.com/office/drawing/2014/main" id="{377515E0-D6AD-1E5B-506D-E86A4B76A776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15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665034" y="3252218"/>
            <a:ext cx="1580247" cy="1580247"/>
          </a:xfrm>
          <a:custGeom>
            <a:avLst/>
            <a:gdLst/>
            <a:ahLst/>
            <a:cxnLst/>
            <a:rect l="l" t="t" r="r" b="b"/>
            <a:pathLst>
              <a:path w="1580247" h="1580247">
                <a:moveTo>
                  <a:pt x="0" y="0"/>
                </a:moveTo>
                <a:lnTo>
                  <a:pt x="1580247" y="0"/>
                </a:lnTo>
                <a:lnTo>
                  <a:pt x="1580247" y="1580247"/>
                </a:lnTo>
                <a:lnTo>
                  <a:pt x="0" y="1580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2" name="Freeform 12"/>
          <p:cNvSpPr/>
          <p:nvPr/>
        </p:nvSpPr>
        <p:spPr>
          <a:xfrm>
            <a:off x="12531981" y="3042580"/>
            <a:ext cx="1436950" cy="1789885"/>
          </a:xfrm>
          <a:custGeom>
            <a:avLst/>
            <a:gdLst/>
            <a:ahLst/>
            <a:cxnLst/>
            <a:rect l="l" t="t" r="r" b="b"/>
            <a:pathLst>
              <a:path w="1436950" h="1789885">
                <a:moveTo>
                  <a:pt x="0" y="0"/>
                </a:moveTo>
                <a:lnTo>
                  <a:pt x="1436950" y="0"/>
                </a:lnTo>
                <a:lnTo>
                  <a:pt x="1436950" y="1789885"/>
                </a:lnTo>
                <a:lnTo>
                  <a:pt x="0" y="1789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722" t="-4460" r="-49999" b="-17601"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3" name="Freeform 13"/>
          <p:cNvSpPr/>
          <p:nvPr/>
        </p:nvSpPr>
        <p:spPr>
          <a:xfrm>
            <a:off x="14254681" y="3252218"/>
            <a:ext cx="2726243" cy="1472171"/>
          </a:xfrm>
          <a:custGeom>
            <a:avLst/>
            <a:gdLst/>
            <a:ahLst/>
            <a:cxnLst/>
            <a:rect l="l" t="t" r="r" b="b"/>
            <a:pathLst>
              <a:path w="2726243" h="1472171">
                <a:moveTo>
                  <a:pt x="0" y="0"/>
                </a:moveTo>
                <a:lnTo>
                  <a:pt x="2726243" y="0"/>
                </a:lnTo>
                <a:lnTo>
                  <a:pt x="2726243" y="1472171"/>
                </a:lnTo>
                <a:lnTo>
                  <a:pt x="0" y="1472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4" name="Freeform 14"/>
          <p:cNvSpPr/>
          <p:nvPr/>
        </p:nvSpPr>
        <p:spPr>
          <a:xfrm>
            <a:off x="10585435" y="5897662"/>
            <a:ext cx="2093490" cy="1580247"/>
          </a:xfrm>
          <a:custGeom>
            <a:avLst/>
            <a:gdLst/>
            <a:ahLst/>
            <a:cxnLst/>
            <a:rect l="l" t="t" r="r" b="b"/>
            <a:pathLst>
              <a:path w="2093490" h="1580247">
                <a:moveTo>
                  <a:pt x="0" y="0"/>
                </a:moveTo>
                <a:lnTo>
                  <a:pt x="2093490" y="0"/>
                </a:lnTo>
                <a:lnTo>
                  <a:pt x="2093490" y="1580248"/>
                </a:lnTo>
                <a:lnTo>
                  <a:pt x="0" y="15802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0223" t="-45329" r="-86251" b="-62415"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5" name="Freeform 15"/>
          <p:cNvSpPr/>
          <p:nvPr/>
        </p:nvSpPr>
        <p:spPr>
          <a:xfrm>
            <a:off x="12964675" y="5762295"/>
            <a:ext cx="1607538" cy="1607538"/>
          </a:xfrm>
          <a:custGeom>
            <a:avLst/>
            <a:gdLst/>
            <a:ahLst/>
            <a:cxnLst/>
            <a:rect l="l" t="t" r="r" b="b"/>
            <a:pathLst>
              <a:path w="1607538" h="1607538">
                <a:moveTo>
                  <a:pt x="0" y="0"/>
                </a:moveTo>
                <a:lnTo>
                  <a:pt x="1607538" y="0"/>
                </a:lnTo>
                <a:lnTo>
                  <a:pt x="1607538" y="1607538"/>
                </a:lnTo>
                <a:lnTo>
                  <a:pt x="0" y="1607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6" name="Freeform 16"/>
          <p:cNvSpPr/>
          <p:nvPr/>
        </p:nvSpPr>
        <p:spPr>
          <a:xfrm>
            <a:off x="14857963" y="5518785"/>
            <a:ext cx="3065964" cy="2229926"/>
          </a:xfrm>
          <a:custGeom>
            <a:avLst/>
            <a:gdLst/>
            <a:ahLst/>
            <a:cxnLst/>
            <a:rect l="l" t="t" r="r" b="b"/>
            <a:pathLst>
              <a:path w="3065964" h="2229926">
                <a:moveTo>
                  <a:pt x="0" y="0"/>
                </a:moveTo>
                <a:lnTo>
                  <a:pt x="3065964" y="0"/>
                </a:lnTo>
                <a:lnTo>
                  <a:pt x="3065964" y="2229926"/>
                </a:lnTo>
                <a:lnTo>
                  <a:pt x="0" y="2229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3715" t="-3414"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7" name="TextBox 17"/>
          <p:cNvSpPr txBox="1"/>
          <p:nvPr/>
        </p:nvSpPr>
        <p:spPr>
          <a:xfrm>
            <a:off x="0" y="590550"/>
            <a:ext cx="18288000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ОПИС ПРОГРАМНОГО ЗАБЕЗПЕЧЕННЯ, </a:t>
            </a:r>
          </a:p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ВИКОРИСТАНОГО У ДОСЛІДЖЕННІ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99966" y="2538289"/>
            <a:ext cx="7827284" cy="5028394"/>
            <a:chOff x="0" y="0"/>
            <a:chExt cx="2061507" cy="132435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61507" cy="1324351"/>
            </a:xfrm>
            <a:custGeom>
              <a:avLst/>
              <a:gdLst/>
              <a:ahLst/>
              <a:cxnLst/>
              <a:rect l="l" t="t" r="r" b="b"/>
              <a:pathLst>
                <a:path w="2061507" h="1324351">
                  <a:moveTo>
                    <a:pt x="50444" y="0"/>
                  </a:moveTo>
                  <a:lnTo>
                    <a:pt x="2011063" y="0"/>
                  </a:lnTo>
                  <a:cubicBezTo>
                    <a:pt x="2024442" y="0"/>
                    <a:pt x="2037272" y="5315"/>
                    <a:pt x="2046732" y="14775"/>
                  </a:cubicBezTo>
                  <a:cubicBezTo>
                    <a:pt x="2056192" y="24235"/>
                    <a:pt x="2061507" y="37065"/>
                    <a:pt x="2061507" y="50444"/>
                  </a:cubicBezTo>
                  <a:lnTo>
                    <a:pt x="2061507" y="1273907"/>
                  </a:lnTo>
                  <a:cubicBezTo>
                    <a:pt x="2061507" y="1301766"/>
                    <a:pt x="2038922" y="1324351"/>
                    <a:pt x="2011063" y="1324351"/>
                  </a:cubicBezTo>
                  <a:lnTo>
                    <a:pt x="50444" y="1324351"/>
                  </a:lnTo>
                  <a:cubicBezTo>
                    <a:pt x="37065" y="1324351"/>
                    <a:pt x="24235" y="1319036"/>
                    <a:pt x="14775" y="1309576"/>
                  </a:cubicBezTo>
                  <a:cubicBezTo>
                    <a:pt x="5315" y="1300116"/>
                    <a:pt x="0" y="1287285"/>
                    <a:pt x="0" y="1273907"/>
                  </a:cubicBezTo>
                  <a:lnTo>
                    <a:pt x="0" y="50444"/>
                  </a:lnTo>
                  <a:cubicBezTo>
                    <a:pt x="0" y="37065"/>
                    <a:pt x="5315" y="24235"/>
                    <a:pt x="14775" y="14775"/>
                  </a:cubicBezTo>
                  <a:cubicBezTo>
                    <a:pt x="24235" y="5315"/>
                    <a:pt x="37065" y="0"/>
                    <a:pt x="5044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061507" cy="1410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04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492317" y="2872531"/>
            <a:ext cx="7534933" cy="431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Опис процесу розробки ПЗ</a:t>
            </a:r>
          </a:p>
          <a:p>
            <a:pPr marL="669288" lvl="1" indent="-334644" algn="l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Попередня обробка даних (Preprocessing)</a:t>
            </a:r>
          </a:p>
          <a:p>
            <a:pPr marL="669288" lvl="1" indent="-334644" algn="l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Алгоритмічна реалізація SAKT та BKT</a:t>
            </a:r>
          </a:p>
          <a:p>
            <a:pPr marL="669288" lvl="1" indent="-334644" algn="l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Навчання та оптимізація </a:t>
            </a:r>
          </a:p>
          <a:p>
            <a:pPr marL="669288" lvl="1" indent="-334644" algn="l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Виконання серії з 5 незалежних запусків </a:t>
            </a:r>
          </a:p>
        </p:txBody>
      </p:sp>
      <p:grpSp>
        <p:nvGrpSpPr>
          <p:cNvPr id="22" name="Group 2">
            <a:extLst>
              <a:ext uri="{FF2B5EF4-FFF2-40B4-BE49-F238E27FC236}">
                <a16:creationId xmlns:a16="http://schemas.microsoft.com/office/drawing/2014/main" id="{DB257FB9-8E0F-7463-0D50-3D0BA8C6A899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3" name="Freeform 3">
              <a:extLst>
                <a:ext uri="{FF2B5EF4-FFF2-40B4-BE49-F238E27FC236}">
                  <a16:creationId xmlns:a16="http://schemas.microsoft.com/office/drawing/2014/main" id="{8E5A0B6E-BAED-5C8D-E560-CADE0B8FE02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18034C91-E59C-52E3-2FCA-DC2FC69541FE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10">
            <a:extLst>
              <a:ext uri="{FF2B5EF4-FFF2-40B4-BE49-F238E27FC236}">
                <a16:creationId xmlns:a16="http://schemas.microsoft.com/office/drawing/2014/main" id="{70ADE87C-109C-544C-2E0C-A63C03D3841C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16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ЗМІСТ ПРОВЕДЕНОГО ЕКСПЕРИМЕНТУ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2772708"/>
            <a:ext cx="7321535" cy="2370792"/>
            <a:chOff x="0" y="0"/>
            <a:chExt cx="1928305" cy="6244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8305" cy="624406"/>
            </a:xfrm>
            <a:custGeom>
              <a:avLst/>
              <a:gdLst/>
              <a:ahLst/>
              <a:cxnLst/>
              <a:rect l="l" t="t" r="r" b="b"/>
              <a:pathLst>
                <a:path w="1928305" h="624406">
                  <a:moveTo>
                    <a:pt x="53928" y="0"/>
                  </a:moveTo>
                  <a:lnTo>
                    <a:pt x="1874377" y="0"/>
                  </a:lnTo>
                  <a:cubicBezTo>
                    <a:pt x="1888680" y="0"/>
                    <a:pt x="1902397" y="5682"/>
                    <a:pt x="1912510" y="15795"/>
                  </a:cubicBezTo>
                  <a:cubicBezTo>
                    <a:pt x="1922624" y="25909"/>
                    <a:pt x="1928305" y="39626"/>
                    <a:pt x="1928305" y="53928"/>
                  </a:cubicBezTo>
                  <a:lnTo>
                    <a:pt x="1928305" y="570478"/>
                  </a:lnTo>
                  <a:cubicBezTo>
                    <a:pt x="1928305" y="600262"/>
                    <a:pt x="1904161" y="624406"/>
                    <a:pt x="1874377" y="624406"/>
                  </a:cubicBezTo>
                  <a:lnTo>
                    <a:pt x="53928" y="624406"/>
                  </a:lnTo>
                  <a:cubicBezTo>
                    <a:pt x="39626" y="624406"/>
                    <a:pt x="25909" y="618724"/>
                    <a:pt x="15795" y="608611"/>
                  </a:cubicBezTo>
                  <a:cubicBezTo>
                    <a:pt x="5682" y="598497"/>
                    <a:pt x="0" y="584780"/>
                    <a:pt x="0" y="570478"/>
                  </a:cubicBezTo>
                  <a:lnTo>
                    <a:pt x="0" y="53928"/>
                  </a:lnTo>
                  <a:cubicBezTo>
                    <a:pt x="0" y="39626"/>
                    <a:pt x="5682" y="25909"/>
                    <a:pt x="15795" y="15795"/>
                  </a:cubicBezTo>
                  <a:cubicBezTo>
                    <a:pt x="25909" y="5682"/>
                    <a:pt x="39626" y="0"/>
                    <a:pt x="5392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28305" cy="681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Методи: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Нейромережеве моделювання (SAKT)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Ймовірнісне моделювання (BKT)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83233" y="5770304"/>
            <a:ext cx="7321535" cy="3487996"/>
            <a:chOff x="0" y="0"/>
            <a:chExt cx="1928305" cy="9186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28305" cy="918649"/>
            </a:xfrm>
            <a:custGeom>
              <a:avLst/>
              <a:gdLst/>
              <a:ahLst/>
              <a:cxnLst/>
              <a:rect l="l" t="t" r="r" b="b"/>
              <a:pathLst>
                <a:path w="1928305" h="918649">
                  <a:moveTo>
                    <a:pt x="53928" y="0"/>
                  </a:moveTo>
                  <a:lnTo>
                    <a:pt x="1874377" y="0"/>
                  </a:lnTo>
                  <a:cubicBezTo>
                    <a:pt x="1888680" y="0"/>
                    <a:pt x="1902397" y="5682"/>
                    <a:pt x="1912510" y="15795"/>
                  </a:cubicBezTo>
                  <a:cubicBezTo>
                    <a:pt x="1922624" y="25909"/>
                    <a:pt x="1928305" y="39626"/>
                    <a:pt x="1928305" y="53928"/>
                  </a:cubicBezTo>
                  <a:lnTo>
                    <a:pt x="1928305" y="864721"/>
                  </a:lnTo>
                  <a:cubicBezTo>
                    <a:pt x="1928305" y="879024"/>
                    <a:pt x="1922624" y="892740"/>
                    <a:pt x="1912510" y="902854"/>
                  </a:cubicBezTo>
                  <a:cubicBezTo>
                    <a:pt x="1902397" y="912968"/>
                    <a:pt x="1888680" y="918649"/>
                    <a:pt x="1874377" y="918649"/>
                  </a:cubicBezTo>
                  <a:lnTo>
                    <a:pt x="53928" y="918649"/>
                  </a:lnTo>
                  <a:cubicBezTo>
                    <a:pt x="39626" y="918649"/>
                    <a:pt x="25909" y="912968"/>
                    <a:pt x="15795" y="902854"/>
                  </a:cubicBezTo>
                  <a:cubicBezTo>
                    <a:pt x="5682" y="892740"/>
                    <a:pt x="0" y="879024"/>
                    <a:pt x="0" y="864721"/>
                  </a:cubicBezTo>
                  <a:lnTo>
                    <a:pt x="0" y="53928"/>
                  </a:lnTo>
                  <a:cubicBezTo>
                    <a:pt x="0" y="39626"/>
                    <a:pt x="5682" y="25909"/>
                    <a:pt x="15795" y="15795"/>
                  </a:cubicBezTo>
                  <a:cubicBezTo>
                    <a:pt x="25909" y="5682"/>
                    <a:pt x="39626" y="0"/>
                    <a:pt x="5392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28305" cy="975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Вхідні дані: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ASSISTments 2017 (940 тис. взаємодій)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ASSISTments 09-10 (340 тис.)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EdNet KT1 (95 млн взаємодій)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21834" y="2772708"/>
            <a:ext cx="7737466" cy="2370792"/>
            <a:chOff x="0" y="0"/>
            <a:chExt cx="2037851" cy="6244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37851" cy="624406"/>
            </a:xfrm>
            <a:custGeom>
              <a:avLst/>
              <a:gdLst/>
              <a:ahLst/>
              <a:cxnLst/>
              <a:rect l="l" t="t" r="r" b="b"/>
              <a:pathLst>
                <a:path w="2037851" h="624406">
                  <a:moveTo>
                    <a:pt x="51029" y="0"/>
                  </a:moveTo>
                  <a:lnTo>
                    <a:pt x="1986822" y="0"/>
                  </a:lnTo>
                  <a:cubicBezTo>
                    <a:pt x="2000356" y="0"/>
                    <a:pt x="2013335" y="5376"/>
                    <a:pt x="2022905" y="14946"/>
                  </a:cubicBezTo>
                  <a:cubicBezTo>
                    <a:pt x="2032475" y="24516"/>
                    <a:pt x="2037851" y="37496"/>
                    <a:pt x="2037851" y="51029"/>
                  </a:cubicBezTo>
                  <a:lnTo>
                    <a:pt x="2037851" y="573377"/>
                  </a:lnTo>
                  <a:cubicBezTo>
                    <a:pt x="2037851" y="601559"/>
                    <a:pt x="2015005" y="624406"/>
                    <a:pt x="1986822" y="624406"/>
                  </a:cubicBezTo>
                  <a:lnTo>
                    <a:pt x="51029" y="624406"/>
                  </a:lnTo>
                  <a:cubicBezTo>
                    <a:pt x="22847" y="624406"/>
                    <a:pt x="0" y="601559"/>
                    <a:pt x="0" y="573377"/>
                  </a:cubicBezTo>
                  <a:lnTo>
                    <a:pt x="0" y="51029"/>
                  </a:lnTo>
                  <a:cubicBezTo>
                    <a:pt x="0" y="22847"/>
                    <a:pt x="22847" y="0"/>
                    <a:pt x="5102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037851" cy="681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Критерії оцінювання: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Прогностична точність (AUC та Accuracy)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Cтійкість до дисбалансу (F1-score)</a:t>
              </a:r>
            </a:p>
          </p:txBody>
        </p:sp>
      </p:grpSp>
      <p:grpSp>
        <p:nvGrpSpPr>
          <p:cNvPr id="21" name="Group 2">
            <a:extLst>
              <a:ext uri="{FF2B5EF4-FFF2-40B4-BE49-F238E27FC236}">
                <a16:creationId xmlns:a16="http://schemas.microsoft.com/office/drawing/2014/main" id="{C98F0BFB-70C3-2231-48F0-56C59469E1F0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2215CA25-CB6B-76F0-30C3-A0A6898AC354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D2EDD677-6811-5D35-D475-ECE04836C546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10">
            <a:extLst>
              <a:ext uri="{FF2B5EF4-FFF2-40B4-BE49-F238E27FC236}">
                <a16:creationId xmlns:a16="http://schemas.microsoft.com/office/drawing/2014/main" id="{D1F2FCD2-E495-4DE3-D808-CD3E5989517F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17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ЗМІСТ ПРОВЕДЕНОГО ЕКСПЕРИМЕНТУ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822465" y="1942614"/>
            <a:ext cx="7321535" cy="5277300"/>
            <a:chOff x="0" y="0"/>
            <a:chExt cx="1928305" cy="13899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8305" cy="1389906"/>
            </a:xfrm>
            <a:custGeom>
              <a:avLst/>
              <a:gdLst/>
              <a:ahLst/>
              <a:cxnLst/>
              <a:rect l="l" t="t" r="r" b="b"/>
              <a:pathLst>
                <a:path w="1928305" h="1389906">
                  <a:moveTo>
                    <a:pt x="53928" y="0"/>
                  </a:moveTo>
                  <a:lnTo>
                    <a:pt x="1874377" y="0"/>
                  </a:lnTo>
                  <a:cubicBezTo>
                    <a:pt x="1888680" y="0"/>
                    <a:pt x="1902397" y="5682"/>
                    <a:pt x="1912510" y="15795"/>
                  </a:cubicBezTo>
                  <a:cubicBezTo>
                    <a:pt x="1922624" y="25909"/>
                    <a:pt x="1928305" y="39626"/>
                    <a:pt x="1928305" y="53928"/>
                  </a:cubicBezTo>
                  <a:lnTo>
                    <a:pt x="1928305" y="1335978"/>
                  </a:lnTo>
                  <a:cubicBezTo>
                    <a:pt x="1928305" y="1350281"/>
                    <a:pt x="1922624" y="1363998"/>
                    <a:pt x="1912510" y="1374111"/>
                  </a:cubicBezTo>
                  <a:cubicBezTo>
                    <a:pt x="1902397" y="1384225"/>
                    <a:pt x="1888680" y="1389906"/>
                    <a:pt x="1874377" y="1389906"/>
                  </a:cubicBezTo>
                  <a:lnTo>
                    <a:pt x="53928" y="1389906"/>
                  </a:lnTo>
                  <a:cubicBezTo>
                    <a:pt x="39626" y="1389906"/>
                    <a:pt x="25909" y="1384225"/>
                    <a:pt x="15795" y="1374111"/>
                  </a:cubicBezTo>
                  <a:cubicBezTo>
                    <a:pt x="5682" y="1363998"/>
                    <a:pt x="0" y="1350281"/>
                    <a:pt x="0" y="1335978"/>
                  </a:cubicBezTo>
                  <a:lnTo>
                    <a:pt x="0" y="53928"/>
                  </a:lnTo>
                  <a:cubicBezTo>
                    <a:pt x="0" y="39626"/>
                    <a:pt x="5682" y="25909"/>
                    <a:pt x="15795" y="15795"/>
                  </a:cubicBezTo>
                  <a:cubicBezTo>
                    <a:pt x="25909" y="5682"/>
                    <a:pt x="39626" y="0"/>
                    <a:pt x="5392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28305" cy="1447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Послідовність: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Базове порівняння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Оптимізація еталону (EM алгоритм для підбору параметрів)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Стабілізація нейромережі (серія з 5 незалежних запусків)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Фінальна валідація (тестування на трьох масивах даних різного масштабу)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8123" y="1942614"/>
            <a:ext cx="7321535" cy="5277300"/>
            <a:chOff x="0" y="0"/>
            <a:chExt cx="1928305" cy="13899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28305" cy="1389906"/>
            </a:xfrm>
            <a:custGeom>
              <a:avLst/>
              <a:gdLst/>
              <a:ahLst/>
              <a:cxnLst/>
              <a:rect l="l" t="t" r="r" b="b"/>
              <a:pathLst>
                <a:path w="1928305" h="1389906">
                  <a:moveTo>
                    <a:pt x="53928" y="0"/>
                  </a:moveTo>
                  <a:lnTo>
                    <a:pt x="1874377" y="0"/>
                  </a:lnTo>
                  <a:cubicBezTo>
                    <a:pt x="1888680" y="0"/>
                    <a:pt x="1902397" y="5682"/>
                    <a:pt x="1912510" y="15795"/>
                  </a:cubicBezTo>
                  <a:cubicBezTo>
                    <a:pt x="1922624" y="25909"/>
                    <a:pt x="1928305" y="39626"/>
                    <a:pt x="1928305" y="53928"/>
                  </a:cubicBezTo>
                  <a:lnTo>
                    <a:pt x="1928305" y="1335978"/>
                  </a:lnTo>
                  <a:cubicBezTo>
                    <a:pt x="1928305" y="1350281"/>
                    <a:pt x="1922624" y="1363998"/>
                    <a:pt x="1912510" y="1374111"/>
                  </a:cubicBezTo>
                  <a:cubicBezTo>
                    <a:pt x="1902397" y="1384225"/>
                    <a:pt x="1888680" y="1389906"/>
                    <a:pt x="1874377" y="1389906"/>
                  </a:cubicBezTo>
                  <a:lnTo>
                    <a:pt x="53928" y="1389906"/>
                  </a:lnTo>
                  <a:cubicBezTo>
                    <a:pt x="39626" y="1389906"/>
                    <a:pt x="25909" y="1384225"/>
                    <a:pt x="15795" y="1374111"/>
                  </a:cubicBezTo>
                  <a:cubicBezTo>
                    <a:pt x="5682" y="1363998"/>
                    <a:pt x="0" y="1350281"/>
                    <a:pt x="0" y="1335978"/>
                  </a:cubicBezTo>
                  <a:lnTo>
                    <a:pt x="0" y="53928"/>
                  </a:lnTo>
                  <a:cubicBezTo>
                    <a:pt x="0" y="39626"/>
                    <a:pt x="5682" y="25909"/>
                    <a:pt x="15795" y="15795"/>
                  </a:cubicBezTo>
                  <a:cubicBezTo>
                    <a:pt x="25909" y="5682"/>
                    <a:pt x="39626" y="0"/>
                    <a:pt x="5392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28305" cy="1447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  Вимірювання: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Агрегація результатів SAKT (обчислення метрик як середнього арифметичного разом зі стандартним відхиленням) </a:t>
              </a:r>
            </a:p>
            <a:p>
              <a:pPr marL="582928" lvl="1" indent="-291464" algn="l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Оцінка статистичної значущості (застосування t-критерію Стьюдента)</a:t>
              </a:r>
            </a:p>
          </p:txBody>
        </p:sp>
      </p:grpSp>
      <p:grpSp>
        <p:nvGrpSpPr>
          <p:cNvPr id="18" name="Group 2">
            <a:extLst>
              <a:ext uri="{FF2B5EF4-FFF2-40B4-BE49-F238E27FC236}">
                <a16:creationId xmlns:a16="http://schemas.microsoft.com/office/drawing/2014/main" id="{31CFB9E5-7E03-D2A2-C0D1-8E53D417E02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8FEC8EA9-9791-9EEF-4FEE-AC78D1C42BEB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58682BE7-928A-F2A8-DEA7-ACE860F63450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10">
            <a:extLst>
              <a:ext uri="{FF2B5EF4-FFF2-40B4-BE49-F238E27FC236}">
                <a16:creationId xmlns:a16="http://schemas.microsoft.com/office/drawing/2014/main" id="{B521160B-8A1E-0BC2-D7CA-9E832EC220C4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18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2493202" y="1768432"/>
            <a:ext cx="5226148" cy="5226148"/>
          </a:xfrm>
          <a:custGeom>
            <a:avLst/>
            <a:gdLst/>
            <a:ahLst/>
            <a:cxnLst/>
            <a:rect l="l" t="t" r="r" b="b"/>
            <a:pathLst>
              <a:path w="5226148" h="5226148">
                <a:moveTo>
                  <a:pt x="0" y="0"/>
                </a:moveTo>
                <a:lnTo>
                  <a:pt x="5226148" y="0"/>
                </a:lnTo>
                <a:lnTo>
                  <a:pt x="5226148" y="5226148"/>
                </a:lnTo>
                <a:lnTo>
                  <a:pt x="0" y="5226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2" name="Freeform 12"/>
          <p:cNvSpPr/>
          <p:nvPr/>
        </p:nvSpPr>
        <p:spPr>
          <a:xfrm>
            <a:off x="11499742" y="1726548"/>
            <a:ext cx="5309916" cy="5309916"/>
          </a:xfrm>
          <a:custGeom>
            <a:avLst/>
            <a:gdLst/>
            <a:ahLst/>
            <a:cxnLst/>
            <a:rect l="l" t="t" r="r" b="b"/>
            <a:pathLst>
              <a:path w="5309916" h="5309916">
                <a:moveTo>
                  <a:pt x="0" y="0"/>
                </a:moveTo>
                <a:lnTo>
                  <a:pt x="5309916" y="0"/>
                </a:lnTo>
                <a:lnTo>
                  <a:pt x="5309916" y="5309916"/>
                </a:lnTo>
                <a:lnTo>
                  <a:pt x="0" y="53099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3" name="TextBox 13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РЕЗУЛЬ</a:t>
            </a: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ТАТИ ЕКСПЕРИМЕНТУ </a:t>
            </a:r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3727959" y="7246014"/>
          <a:ext cx="10832081" cy="2348280"/>
        </p:xfrm>
        <a:graphic>
          <a:graphicData uri="http://schemas.openxmlformats.org/drawingml/2006/table">
            <a:tbl>
              <a:tblPr/>
              <a:tblGrid>
                <a:gridCol w="4310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0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07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Модель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Налаштування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Test AUC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07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BKT (ручні параметри)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P(L) = 0.2, P(T) = 0.3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0.5716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07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BKT (fitted, EM)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автоматизований підбір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0.6069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F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07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SAKT (Середнє за 5 запусків ± SD)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emb=128, heads=4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0.669±0.001</a:t>
                      </a:r>
                      <a:endParaRPr lang="en-US" sz="1100"/>
                    </a:p>
                  </a:txBody>
                  <a:tcPr marL="47625" marR="47625" marT="47625" marB="47625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AutoShape 15"/>
          <p:cNvSpPr/>
          <p:nvPr/>
        </p:nvSpPr>
        <p:spPr>
          <a:xfrm>
            <a:off x="7645614" y="4381506"/>
            <a:ext cx="3854128" cy="0"/>
          </a:xfrm>
          <a:prstGeom prst="line">
            <a:avLst/>
          </a:prstGeom>
          <a:ln w="1143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Box 16"/>
          <p:cNvSpPr txBox="1"/>
          <p:nvPr/>
        </p:nvSpPr>
        <p:spPr>
          <a:xfrm>
            <a:off x="8491725" y="3229307"/>
            <a:ext cx="2235642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Приріст  +0.06 AUC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вважається значним</a:t>
            </a: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67F1E2DB-6B57-2D61-7FF3-A8985D08A470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1C8AF1C9-13A4-CEE7-E9A4-5B23556B6848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6EE942A7-B3D3-8B60-EAE5-B452B210C802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10">
            <a:extLst>
              <a:ext uri="{FF2B5EF4-FFF2-40B4-BE49-F238E27FC236}">
                <a16:creationId xmlns:a16="http://schemas.microsoft.com/office/drawing/2014/main" id="{233AE167-8AA5-BD56-25DC-130468CC348B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19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727" y="680235"/>
            <a:ext cx="9058379" cy="7822887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8065786" y="3962473"/>
            <a:ext cx="9702655" cy="3286569"/>
            <a:chOff x="0" y="0"/>
            <a:chExt cx="12936873" cy="4382092"/>
          </a:xfrm>
        </p:grpSpPr>
        <p:sp>
          <p:nvSpPr>
            <p:cNvPr id="13" name="Freeform 13"/>
            <p:cNvSpPr/>
            <p:nvPr/>
          </p:nvSpPr>
          <p:spPr>
            <a:xfrm>
              <a:off x="0" y="2215166"/>
              <a:ext cx="12936873" cy="2166926"/>
            </a:xfrm>
            <a:custGeom>
              <a:avLst/>
              <a:gdLst/>
              <a:ahLst/>
              <a:cxnLst/>
              <a:rect l="l" t="t" r="r" b="b"/>
              <a:pathLst>
                <a:path w="12936873" h="2166926">
                  <a:moveTo>
                    <a:pt x="0" y="0"/>
                  </a:moveTo>
                  <a:lnTo>
                    <a:pt x="12936873" y="0"/>
                  </a:lnTo>
                  <a:lnTo>
                    <a:pt x="12936873" y="2166926"/>
                  </a:lnTo>
                  <a:lnTo>
                    <a:pt x="0" y="2166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9259" y="0"/>
              <a:ext cx="12840162" cy="3080033"/>
            </a:xfrm>
            <a:custGeom>
              <a:avLst/>
              <a:gdLst/>
              <a:ahLst/>
              <a:cxnLst/>
              <a:rect l="l" t="t" r="r" b="b"/>
              <a:pathLst>
                <a:path w="12840162" h="3080033">
                  <a:moveTo>
                    <a:pt x="0" y="0"/>
                  </a:moveTo>
                  <a:lnTo>
                    <a:pt x="12840162" y="0"/>
                  </a:lnTo>
                  <a:lnTo>
                    <a:pt x="12840162" y="3080033"/>
                  </a:lnTo>
                  <a:lnTo>
                    <a:pt x="0" y="3080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753" b="-8156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90267" y="7944003"/>
            <a:ext cx="12795480" cy="1664095"/>
            <a:chOff x="0" y="0"/>
            <a:chExt cx="3370003" cy="438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370003" cy="438280"/>
            </a:xfrm>
            <a:custGeom>
              <a:avLst/>
              <a:gdLst/>
              <a:ahLst/>
              <a:cxnLst/>
              <a:rect l="l" t="t" r="r" b="b"/>
              <a:pathLst>
                <a:path w="3370003" h="438280">
                  <a:moveTo>
                    <a:pt x="30858" y="0"/>
                  </a:moveTo>
                  <a:lnTo>
                    <a:pt x="3339145" y="0"/>
                  </a:lnTo>
                  <a:cubicBezTo>
                    <a:pt x="3356187" y="0"/>
                    <a:pt x="3370003" y="13815"/>
                    <a:pt x="3370003" y="30858"/>
                  </a:cubicBezTo>
                  <a:lnTo>
                    <a:pt x="3370003" y="407423"/>
                  </a:lnTo>
                  <a:cubicBezTo>
                    <a:pt x="3370003" y="424465"/>
                    <a:pt x="3356187" y="438280"/>
                    <a:pt x="3339145" y="438280"/>
                  </a:cubicBezTo>
                  <a:lnTo>
                    <a:pt x="30858" y="438280"/>
                  </a:lnTo>
                  <a:cubicBezTo>
                    <a:pt x="13815" y="438280"/>
                    <a:pt x="0" y="424465"/>
                    <a:pt x="0" y="407423"/>
                  </a:cubicBezTo>
                  <a:lnTo>
                    <a:pt x="0" y="30858"/>
                  </a:lnTo>
                  <a:cubicBezTo>
                    <a:pt x="0" y="13815"/>
                    <a:pt x="13815" y="0"/>
                    <a:pt x="308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370003" cy="495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SAKT не просто математично вгадує мажоритарний клас, а дійсно розпізнає складні патерни поведінки здобувачів освіти. BKT стикається з проблемою масштабованості на надвеликих масивах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65786" y="1603053"/>
            <a:ext cx="9761624" cy="1664095"/>
            <a:chOff x="0" y="0"/>
            <a:chExt cx="2570963" cy="438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570963" cy="438280"/>
            </a:xfrm>
            <a:custGeom>
              <a:avLst/>
              <a:gdLst/>
              <a:ahLst/>
              <a:cxnLst/>
              <a:rect l="l" t="t" r="r" b="b"/>
              <a:pathLst>
                <a:path w="2570963" h="438280">
                  <a:moveTo>
                    <a:pt x="40448" y="0"/>
                  </a:moveTo>
                  <a:lnTo>
                    <a:pt x="2530515" y="0"/>
                  </a:lnTo>
                  <a:cubicBezTo>
                    <a:pt x="2541242" y="0"/>
                    <a:pt x="2551530" y="4261"/>
                    <a:pt x="2559116" y="11847"/>
                  </a:cubicBezTo>
                  <a:cubicBezTo>
                    <a:pt x="2566701" y="19432"/>
                    <a:pt x="2570963" y="29721"/>
                    <a:pt x="2570963" y="40448"/>
                  </a:cubicBezTo>
                  <a:lnTo>
                    <a:pt x="2570963" y="397832"/>
                  </a:lnTo>
                  <a:cubicBezTo>
                    <a:pt x="2570963" y="420171"/>
                    <a:pt x="2552854" y="438280"/>
                    <a:pt x="2530515" y="438280"/>
                  </a:cubicBezTo>
                  <a:lnTo>
                    <a:pt x="40448" y="438280"/>
                  </a:lnTo>
                  <a:cubicBezTo>
                    <a:pt x="29721" y="438280"/>
                    <a:pt x="19432" y="434019"/>
                    <a:pt x="11847" y="426433"/>
                  </a:cubicBezTo>
                  <a:cubicBezTo>
                    <a:pt x="4261" y="418848"/>
                    <a:pt x="0" y="408560"/>
                    <a:pt x="0" y="397832"/>
                  </a:cubicBezTo>
                  <a:lnTo>
                    <a:pt x="0" y="40448"/>
                  </a:lnTo>
                  <a:cubicBezTo>
                    <a:pt x="0" y="18109"/>
                    <a:pt x="18109" y="0"/>
                    <a:pt x="4044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570963" cy="495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У всіх датасетах домінує мажоритарний клас (~65% правильних відповідей), що вимагає орієнтації на метрику F1-score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969203" y="6247242"/>
            <a:ext cx="1724502" cy="898089"/>
            <a:chOff x="0" y="0"/>
            <a:chExt cx="454190" cy="2365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4190" cy="236534"/>
            </a:xfrm>
            <a:custGeom>
              <a:avLst/>
              <a:gdLst/>
              <a:ahLst/>
              <a:cxnLst/>
              <a:rect l="l" t="t" r="r" b="b"/>
              <a:pathLst>
                <a:path w="454190" h="236534">
                  <a:moveTo>
                    <a:pt x="0" y="0"/>
                  </a:moveTo>
                  <a:lnTo>
                    <a:pt x="454190" y="0"/>
                  </a:lnTo>
                  <a:lnTo>
                    <a:pt x="454190" y="236534"/>
                  </a:lnTo>
                  <a:lnTo>
                    <a:pt x="0" y="236534"/>
                  </a:lnTo>
                  <a:close/>
                </a:path>
              </a:pathLst>
            </a:custGeom>
            <a:ln w="66675" cap="sq">
              <a:solidFill>
                <a:srgbClr val="7ED957"/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54190" cy="274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РЕЗУЛЬ</a:t>
            </a: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ТАТИ ЕКСПЕРИМЕНТУ </a:t>
            </a: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E8043C60-4A54-10A7-4B56-618A5C26929D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A0BC7CDE-CA16-B630-219B-5C40AC8F74B7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5CE63BB4-A190-447A-92AE-1CBB5633CFCF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Freeform 10">
            <a:extLst>
              <a:ext uri="{FF2B5EF4-FFF2-40B4-BE49-F238E27FC236}">
                <a16:creationId xmlns:a16="http://schemas.microsoft.com/office/drawing/2014/main" id="{8A33DB32-7560-A681-C8FF-4AA0D54450AB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20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АНАЛ</a:t>
            </a: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ІЗ ОТРИМАНИХ РЕЗУЛЬТАТІВ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2268415"/>
            <a:ext cx="7968091" cy="5286210"/>
            <a:chOff x="0" y="0"/>
            <a:chExt cx="2098592" cy="1392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8592" cy="1392253"/>
            </a:xfrm>
            <a:custGeom>
              <a:avLst/>
              <a:gdLst/>
              <a:ahLst/>
              <a:cxnLst/>
              <a:rect l="l" t="t" r="r" b="b"/>
              <a:pathLst>
                <a:path w="2098592" h="1392253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1342701"/>
                  </a:lnTo>
                  <a:cubicBezTo>
                    <a:pt x="2098592" y="1370068"/>
                    <a:pt x="2076407" y="1392253"/>
                    <a:pt x="2049039" y="1392253"/>
                  </a:cubicBezTo>
                  <a:lnTo>
                    <a:pt x="49552" y="1392253"/>
                  </a:lnTo>
                  <a:cubicBezTo>
                    <a:pt x="36410" y="1392253"/>
                    <a:pt x="23806" y="1387032"/>
                    <a:pt x="14514" y="1377739"/>
                  </a:cubicBezTo>
                  <a:cubicBezTo>
                    <a:pt x="5221" y="1368447"/>
                    <a:pt x="0" y="1355843"/>
                    <a:pt x="0" y="1342701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098592" cy="1449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1209" y="1916149"/>
            <a:ext cx="7968091" cy="7562393"/>
            <a:chOff x="0" y="0"/>
            <a:chExt cx="2098592" cy="19917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98592" cy="1991741"/>
            </a:xfrm>
            <a:custGeom>
              <a:avLst/>
              <a:gdLst/>
              <a:ahLst/>
              <a:cxnLst/>
              <a:rect l="l" t="t" r="r" b="b"/>
              <a:pathLst>
                <a:path w="2098592" h="1991741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1942189"/>
                  </a:lnTo>
                  <a:cubicBezTo>
                    <a:pt x="2098592" y="1955331"/>
                    <a:pt x="2093371" y="1967935"/>
                    <a:pt x="2084078" y="1977228"/>
                  </a:cubicBezTo>
                  <a:cubicBezTo>
                    <a:pt x="2074785" y="1986521"/>
                    <a:pt x="2062182" y="1991741"/>
                    <a:pt x="2049039" y="1991741"/>
                  </a:cubicBezTo>
                  <a:lnTo>
                    <a:pt x="49552" y="1991741"/>
                  </a:lnTo>
                  <a:cubicBezTo>
                    <a:pt x="36410" y="1991741"/>
                    <a:pt x="23806" y="1986521"/>
                    <a:pt x="14514" y="1977228"/>
                  </a:cubicBezTo>
                  <a:cubicBezTo>
                    <a:pt x="5221" y="1967935"/>
                    <a:pt x="0" y="1955331"/>
                    <a:pt x="0" y="1942189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098592" cy="2048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53454" y="4863895"/>
            <a:ext cx="7443600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99"/>
              </a:lnSpc>
              <a:spcBef>
                <a:spcPct val="0"/>
              </a:spcBef>
            </a:pPr>
            <a:r>
              <a:rPr lang="en-US" sz="2499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Висновки з отриманих даних: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модель SAKT перевершує BKT за всіма метриками на трьох різних датасетах (AUC досягає 0.666).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стійкість до "in-the-wild" умов: на масштабних даних нейромережа демонструє відрив: F1-score = 0.7912 (на противагу 0.5902 у розширеної BKT)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3031" y="2372790"/>
            <a:ext cx="7559429" cy="502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Очікувані результати повністю досягнуто: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розроблено та експериментально перевірено модуль KT</a:t>
            </a:r>
          </a:p>
          <a:p>
            <a:pPr algn="l">
              <a:lnSpc>
                <a:spcPts val="3640"/>
              </a:lnSpc>
            </a:pPr>
            <a:endParaRPr lang="en-US" sz="26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just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реалізовано автоматизований аналіз  даних та прогнозування успішності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endParaRPr lang="en-US" sz="26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just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сформовано готове математичне ядро, що слугуватиме алгоритмічною базою для побудови адаптивних траєкторій навчання.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38424" y="2220790"/>
            <a:ext cx="7273661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Гіпотезу підтверджено: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застосування трансформерних архітектур (SAKT) є  ефективнішим за застосування ймовірнісних для побудови адаптивних траєкторій навчання.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41DA3213-BAC5-A268-5291-C3996BC8429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33A90927-C15B-43A2-C60D-CD8CB4B66E89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A1D20D7F-E79A-A272-2550-3D29F47CAFE6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10">
            <a:extLst>
              <a:ext uri="{FF2B5EF4-FFF2-40B4-BE49-F238E27FC236}">
                <a16:creationId xmlns:a16="http://schemas.microsoft.com/office/drawing/2014/main" id="{563E1876-5489-E7AD-7C41-719BE6ED62C6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21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АНАЛ</a:t>
            </a: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ІЗ ОТРИМАНИХ РЕЗУЛЬТАТІВ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2268415"/>
            <a:ext cx="7968091" cy="5286210"/>
            <a:chOff x="0" y="0"/>
            <a:chExt cx="2098592" cy="13922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98592" cy="1392253"/>
            </a:xfrm>
            <a:custGeom>
              <a:avLst/>
              <a:gdLst/>
              <a:ahLst/>
              <a:cxnLst/>
              <a:rect l="l" t="t" r="r" b="b"/>
              <a:pathLst>
                <a:path w="2098592" h="1392253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1342701"/>
                  </a:lnTo>
                  <a:cubicBezTo>
                    <a:pt x="2098592" y="1370068"/>
                    <a:pt x="2076407" y="1392253"/>
                    <a:pt x="2049039" y="1392253"/>
                  </a:cubicBezTo>
                  <a:lnTo>
                    <a:pt x="49552" y="1392253"/>
                  </a:lnTo>
                  <a:cubicBezTo>
                    <a:pt x="36410" y="1392253"/>
                    <a:pt x="23806" y="1387032"/>
                    <a:pt x="14514" y="1377739"/>
                  </a:cubicBezTo>
                  <a:cubicBezTo>
                    <a:pt x="5221" y="1368447"/>
                    <a:pt x="0" y="1355843"/>
                    <a:pt x="0" y="1342701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098592" cy="1449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91209" y="1916149"/>
            <a:ext cx="7968091" cy="7562393"/>
            <a:chOff x="0" y="0"/>
            <a:chExt cx="2098592" cy="19917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98592" cy="1991741"/>
            </a:xfrm>
            <a:custGeom>
              <a:avLst/>
              <a:gdLst/>
              <a:ahLst/>
              <a:cxnLst/>
              <a:rect l="l" t="t" r="r" b="b"/>
              <a:pathLst>
                <a:path w="2098592" h="1991741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1942189"/>
                  </a:lnTo>
                  <a:cubicBezTo>
                    <a:pt x="2098592" y="1955331"/>
                    <a:pt x="2093371" y="1967935"/>
                    <a:pt x="2084078" y="1977228"/>
                  </a:cubicBezTo>
                  <a:cubicBezTo>
                    <a:pt x="2074785" y="1986521"/>
                    <a:pt x="2062182" y="1991741"/>
                    <a:pt x="2049039" y="1991741"/>
                  </a:cubicBezTo>
                  <a:lnTo>
                    <a:pt x="49552" y="1991741"/>
                  </a:lnTo>
                  <a:cubicBezTo>
                    <a:pt x="36410" y="1991741"/>
                    <a:pt x="23806" y="1986521"/>
                    <a:pt x="14514" y="1977228"/>
                  </a:cubicBezTo>
                  <a:cubicBezTo>
                    <a:pt x="5221" y="1967935"/>
                    <a:pt x="0" y="1955331"/>
                    <a:pt x="0" y="1942189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098592" cy="2048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53454" y="2270125"/>
            <a:ext cx="7443600" cy="6849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599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Вплив результатів на існуючі теорії та практики:</a:t>
            </a: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експериментально доведено архітектурні обмеження прихованих марковських моделей </a:t>
            </a:r>
          </a:p>
          <a:p>
            <a:pPr algn="just">
              <a:lnSpc>
                <a:spcPts val="3639"/>
              </a:lnSpc>
            </a:pPr>
            <a:endParaRPr lang="en-US" sz="2599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виявлено організаційно-технологічні умови, що максимізують перевагу SAKT</a:t>
            </a:r>
          </a:p>
          <a:p>
            <a:pPr algn="just">
              <a:lnSpc>
                <a:spcPts val="3639"/>
              </a:lnSpc>
            </a:pPr>
            <a:endParaRPr lang="en-US" sz="2599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39" lvl="1" indent="-280669" algn="just">
              <a:lnSpc>
                <a:spcPts val="3639"/>
              </a:lnSpc>
              <a:buFont typeface="Arial"/>
              <a:buChar char="•"/>
            </a:pPr>
            <a:r>
              <a:rPr lang="en-US" sz="2599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розроблений прототип модуля KT (із захистом від перенавчання) формує математичне ядро для подальшого використання у сучасних LMS для генерації адаптивних навчальних траєкторій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3031" y="2601390"/>
            <a:ext cx="7559429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І</a:t>
            </a:r>
            <a:r>
              <a:rPr lang="en-US" sz="26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нтерпретація результатів: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BKT фіксує еволюцію знань локально</a:t>
            </a:r>
          </a:p>
          <a:p>
            <a:pPr algn="just">
              <a:lnSpc>
                <a:spcPts val="3640"/>
              </a:lnSpc>
            </a:pPr>
            <a:endParaRPr lang="en-US" sz="26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архітектурна межа покращення BKT лише ~3.5%</a:t>
            </a:r>
          </a:p>
          <a:p>
            <a:pPr algn="just">
              <a:lnSpc>
                <a:spcPts val="3640"/>
              </a:lnSpc>
            </a:pPr>
            <a:endParaRPr lang="en-US" sz="26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SAKT здатна глобально аналізувати історію</a:t>
            </a:r>
          </a:p>
          <a:p>
            <a:pPr algn="just">
              <a:lnSpc>
                <a:spcPts val="3640"/>
              </a:lnSpc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marL="561341" lvl="1" indent="-280670" algn="just">
              <a:lnSpc>
                <a:spcPts val="364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відрив SAKT є статистично значущим (One-Sample t-test: p &lt; 0.0001)</a:t>
            </a: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4017E833-273B-2721-26C6-61C161A60FE1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2AD71037-0E03-14CD-423D-2E2DF3F7CD46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FFB3850E-35F7-D11A-A4D2-F1C0C10FAB85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10">
            <a:extLst>
              <a:ext uri="{FF2B5EF4-FFF2-40B4-BE49-F238E27FC236}">
                <a16:creationId xmlns:a16="http://schemas.microsoft.com/office/drawing/2014/main" id="{515D2074-36D5-0F50-0226-4E1F370A05A3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22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3497853" y="1715817"/>
            <a:ext cx="11301259" cy="3005590"/>
          </a:xfrm>
          <a:custGeom>
            <a:avLst/>
            <a:gdLst/>
            <a:ahLst/>
            <a:cxnLst/>
            <a:rect l="l" t="t" r="r" b="b"/>
            <a:pathLst>
              <a:path w="11301259" h="3005590">
                <a:moveTo>
                  <a:pt x="0" y="0"/>
                </a:moveTo>
                <a:lnTo>
                  <a:pt x="11301259" y="0"/>
                </a:lnTo>
                <a:lnTo>
                  <a:pt x="11301259" y="3005590"/>
                </a:lnTo>
                <a:lnTo>
                  <a:pt x="0" y="30055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245" r="-37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2" name="Freeform 12"/>
          <p:cNvSpPr/>
          <p:nvPr/>
        </p:nvSpPr>
        <p:spPr>
          <a:xfrm>
            <a:off x="3497853" y="5851147"/>
            <a:ext cx="11301259" cy="2458024"/>
          </a:xfrm>
          <a:custGeom>
            <a:avLst/>
            <a:gdLst/>
            <a:ahLst/>
            <a:cxnLst/>
            <a:rect l="l" t="t" r="r" b="b"/>
            <a:pathLst>
              <a:path w="11301259" h="2458024">
                <a:moveTo>
                  <a:pt x="0" y="0"/>
                </a:moveTo>
                <a:lnTo>
                  <a:pt x="11301259" y="0"/>
                </a:lnTo>
                <a:lnTo>
                  <a:pt x="11301259" y="2458023"/>
                </a:lnTo>
                <a:lnTo>
                  <a:pt x="0" y="245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Box 13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ПУБЛ</a:t>
            </a:r>
            <a:r>
              <a:rPr lang="en-US" sz="5000" b="1" u="none" strike="noStrik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ІКАЦІЯ РЕЗУЛЬТАТІВ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7853" y="4804947"/>
            <a:ext cx="11301259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nure.ua/konferencii-ta-workshops/mizhnarodnij-molodizhnij-forum-radioelektronika-i-molod-u-hhi-stolitti/xxx-mizhnarodnyj-molodizhnyj-forum-radioelektronika-i-molod-u-khkhi-stolitti"/>
              </a:rPr>
              <a:t>XXX Міжнародний Молодіжний Форум «Радіоелектроніка та молодь у ХХІ столітті»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00458" y="8394895"/>
            <a:ext cx="12087084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 u="sng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6" tooltip="https://mitais.com.ua/index.html"/>
              </a:rPr>
              <a:t>2 Міжнародна науково-практична конференція «Сучасні інформаційні технології та системи штучного інтелекту MIT&amp;AIS-2026»</a:t>
            </a:r>
          </a:p>
        </p:txBody>
      </p:sp>
      <p:grpSp>
        <p:nvGrpSpPr>
          <p:cNvPr id="16" name="Group 2">
            <a:extLst>
              <a:ext uri="{FF2B5EF4-FFF2-40B4-BE49-F238E27FC236}">
                <a16:creationId xmlns:a16="http://schemas.microsoft.com/office/drawing/2014/main" id="{379E3094-FB36-CA1C-DB2B-E362281BA4CA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E2659E8C-DA23-C613-A54F-84A990E48943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DE123EE3-0959-299D-F4BF-747AF30DCE66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Freeform 10">
            <a:extLst>
              <a:ext uri="{FF2B5EF4-FFF2-40B4-BE49-F238E27FC236}">
                <a16:creationId xmlns:a16="http://schemas.microsoft.com/office/drawing/2014/main" id="{D26757C3-26BE-D64B-7CFE-93DCE2B03FAF}"/>
              </a:ext>
            </a:extLst>
          </p:cNvPr>
          <p:cNvSpPr/>
          <p:nvPr/>
        </p:nvSpPr>
        <p:spPr>
          <a:xfrm>
            <a:off x="517138" y="7505700"/>
            <a:ext cx="2249218" cy="2249218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6809658" y="8723129"/>
            <a:ext cx="2956684" cy="1080715"/>
            <a:chOff x="0" y="0"/>
            <a:chExt cx="3942246" cy="1440953"/>
          </a:xfrm>
        </p:grpSpPr>
        <p:grpSp>
          <p:nvGrpSpPr>
            <p:cNvPr id="6" name="Group 6"/>
            <p:cNvGrpSpPr/>
            <p:nvPr/>
          </p:nvGrpSpPr>
          <p:grpSpPr>
            <a:xfrm rot="5400000">
              <a:off x="1250646" y="-1250646"/>
              <a:ext cx="1440953" cy="3942246"/>
              <a:chOff x="0" y="0"/>
              <a:chExt cx="284633" cy="7787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84633" cy="778715"/>
              </a:xfrm>
              <a:custGeom>
                <a:avLst/>
                <a:gdLst/>
                <a:ahLst/>
                <a:cxnLst/>
                <a:rect l="l" t="t" r="r" b="b"/>
                <a:pathLst>
                  <a:path w="284633" h="778715">
                    <a:moveTo>
                      <a:pt x="142316" y="0"/>
                    </a:moveTo>
                    <a:lnTo>
                      <a:pt x="142316" y="0"/>
                    </a:lnTo>
                    <a:cubicBezTo>
                      <a:pt x="220916" y="0"/>
                      <a:pt x="284633" y="63717"/>
                      <a:pt x="284633" y="142316"/>
                    </a:cubicBezTo>
                    <a:lnTo>
                      <a:pt x="284633" y="636399"/>
                    </a:lnTo>
                    <a:cubicBezTo>
                      <a:pt x="284633" y="714998"/>
                      <a:pt x="220916" y="778715"/>
                      <a:pt x="142316" y="778715"/>
                    </a:cubicBezTo>
                    <a:lnTo>
                      <a:pt x="142316" y="778715"/>
                    </a:lnTo>
                    <a:cubicBezTo>
                      <a:pt x="63717" y="778715"/>
                      <a:pt x="0" y="714998"/>
                      <a:pt x="0" y="636399"/>
                    </a:cubicBezTo>
                    <a:lnTo>
                      <a:pt x="0" y="142316"/>
                    </a:lnTo>
                    <a:cubicBezTo>
                      <a:pt x="0" y="63717"/>
                      <a:pt x="63717" y="0"/>
                      <a:pt x="142316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  <p:txBody>
              <a:bodyPr/>
              <a:lstStyle/>
              <a:p>
                <a:endParaRPr lang="en-UA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84633" cy="8168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0080" y="114240"/>
              <a:ext cx="1871043" cy="11070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5000">
                  <a:solidFill>
                    <a:srgbClr val="000000"/>
                  </a:solidFill>
                  <a:latin typeface="Century Gothic Paneuropean"/>
                  <a:ea typeface="Century Gothic Paneuropean"/>
                  <a:cs typeface="Century Gothic Paneuropean"/>
                  <a:sym typeface="Century Gothic Paneuropean"/>
                </a:rPr>
                <a:t>23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581025"/>
            <a:ext cx="18288000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ПІДСУМКИ ДОСЛІДЖЕННЯ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57897" y="1672272"/>
            <a:ext cx="7290656" cy="7264321"/>
            <a:chOff x="0" y="0"/>
            <a:chExt cx="1920173" cy="19132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173" cy="1913237"/>
            </a:xfrm>
            <a:custGeom>
              <a:avLst/>
              <a:gdLst/>
              <a:ahLst/>
              <a:cxnLst/>
              <a:rect l="l" t="t" r="r" b="b"/>
              <a:pathLst>
                <a:path w="1920173" h="1913237">
                  <a:moveTo>
                    <a:pt x="54157" y="0"/>
                  </a:moveTo>
                  <a:lnTo>
                    <a:pt x="1866016" y="0"/>
                  </a:lnTo>
                  <a:cubicBezTo>
                    <a:pt x="1880379" y="0"/>
                    <a:pt x="1894154" y="5706"/>
                    <a:pt x="1904311" y="15862"/>
                  </a:cubicBezTo>
                  <a:cubicBezTo>
                    <a:pt x="1914467" y="26018"/>
                    <a:pt x="1920173" y="39793"/>
                    <a:pt x="1920173" y="54157"/>
                  </a:cubicBezTo>
                  <a:lnTo>
                    <a:pt x="1920173" y="1859080"/>
                  </a:lnTo>
                  <a:cubicBezTo>
                    <a:pt x="1920173" y="1888990"/>
                    <a:pt x="1895926" y="1913237"/>
                    <a:pt x="1866016" y="1913237"/>
                  </a:cubicBezTo>
                  <a:lnTo>
                    <a:pt x="54157" y="1913237"/>
                  </a:lnTo>
                  <a:cubicBezTo>
                    <a:pt x="24247" y="1913237"/>
                    <a:pt x="0" y="1888990"/>
                    <a:pt x="0" y="1859080"/>
                  </a:cubicBezTo>
                  <a:lnTo>
                    <a:pt x="0" y="54157"/>
                  </a:lnTo>
                  <a:cubicBezTo>
                    <a:pt x="0" y="24247"/>
                    <a:pt x="24247" y="0"/>
                    <a:pt x="541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920173" cy="19703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1672272"/>
            <a:ext cx="7968091" cy="6072035"/>
            <a:chOff x="0" y="0"/>
            <a:chExt cx="2098592" cy="15992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98592" cy="1599219"/>
            </a:xfrm>
            <a:custGeom>
              <a:avLst/>
              <a:gdLst/>
              <a:ahLst/>
              <a:cxnLst/>
              <a:rect l="l" t="t" r="r" b="b"/>
              <a:pathLst>
                <a:path w="2098592" h="1599219">
                  <a:moveTo>
                    <a:pt x="49552" y="0"/>
                  </a:moveTo>
                  <a:lnTo>
                    <a:pt x="2049039" y="0"/>
                  </a:lnTo>
                  <a:cubicBezTo>
                    <a:pt x="2062182" y="0"/>
                    <a:pt x="2074785" y="5221"/>
                    <a:pt x="2084078" y="14514"/>
                  </a:cubicBezTo>
                  <a:cubicBezTo>
                    <a:pt x="2093371" y="23806"/>
                    <a:pt x="2098592" y="36410"/>
                    <a:pt x="2098592" y="49552"/>
                  </a:cubicBezTo>
                  <a:lnTo>
                    <a:pt x="2098592" y="1549667"/>
                  </a:lnTo>
                  <a:cubicBezTo>
                    <a:pt x="2098592" y="1562809"/>
                    <a:pt x="2093371" y="1575413"/>
                    <a:pt x="2084078" y="1584706"/>
                  </a:cubicBezTo>
                  <a:cubicBezTo>
                    <a:pt x="2074785" y="1593998"/>
                    <a:pt x="2062182" y="1599219"/>
                    <a:pt x="2049039" y="1599219"/>
                  </a:cubicBezTo>
                  <a:lnTo>
                    <a:pt x="49552" y="1599219"/>
                  </a:lnTo>
                  <a:cubicBezTo>
                    <a:pt x="36410" y="1599219"/>
                    <a:pt x="23806" y="1593998"/>
                    <a:pt x="14514" y="1584706"/>
                  </a:cubicBezTo>
                  <a:cubicBezTo>
                    <a:pt x="5221" y="1575413"/>
                    <a:pt x="0" y="1562809"/>
                    <a:pt x="0" y="1549667"/>
                  </a:cubicBezTo>
                  <a:lnTo>
                    <a:pt x="0" y="49552"/>
                  </a:lnTo>
                  <a:cubicBezTo>
                    <a:pt x="0" y="36410"/>
                    <a:pt x="5221" y="23806"/>
                    <a:pt x="14514" y="14514"/>
                  </a:cubicBezTo>
                  <a:cubicBezTo>
                    <a:pt x="23806" y="5221"/>
                    <a:pt x="36410" y="0"/>
                    <a:pt x="495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DE59"/>
              </a:solidFill>
              <a:prstDash val="solid"/>
              <a:round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098592" cy="16563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42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80265" y="1744043"/>
            <a:ext cx="7464962" cy="617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Реалістичність та корисність отриманих результатів: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успішна валідація на датасетах різного масштабу підтверджує масштабованість та життєздатність розробленого рішення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прототип захищений від перенавчання та здатний стабільно працювати в реальних освітніх умовах</a:t>
            </a:r>
          </a:p>
          <a:p>
            <a:pPr marL="582928" lvl="1" indent="-291464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модуль KT формує готове математичне ядро як підґрунтя для генерації адаптивних траєкторій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57897" y="1821180"/>
            <a:ext cx="7371948" cy="665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Можливий розвиток досліджень: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27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інтеграція великих мовних моделей (LLM) –  застосування генеративного штучного інтелекту для глибокого аналізу семантичного змісту навчальних завдань</a:t>
            </a:r>
          </a:p>
          <a:p>
            <a:pPr algn="l">
              <a:lnSpc>
                <a:spcPts val="3779"/>
              </a:lnSpc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розширення архітектури моделі додатковими механізмами для аналізу рівня мотивації та індивідуальних стилів сприйняття інформації здобувачами освіти</a:t>
            </a:r>
          </a:p>
          <a:p>
            <a:pPr algn="ctr">
              <a:lnSpc>
                <a:spcPts val="3779"/>
              </a:lnSpc>
              <a:spcBef>
                <a:spcPct val="0"/>
              </a:spcBef>
            </a:pPr>
            <a:endParaRPr lang="en-US" sz="27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8546864B-27BF-3D0D-6357-E7FB73EAEFFC}"/>
              </a:ext>
            </a:extLst>
          </p:cNvPr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E434505D-D46B-87E2-38FB-44E6CF127DF1}"/>
                </a:ext>
              </a:extLst>
            </p:cNvPr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FDE59"/>
            </a:solidFill>
            <a:ln w="28575" cap="rnd">
              <a:solidFill>
                <a:srgbClr val="494848"/>
              </a:solidFill>
              <a:prstDash val="solid"/>
              <a:round/>
            </a:ln>
          </p:spPr>
          <p:txBody>
            <a:bodyPr/>
            <a:lstStyle/>
            <a:p>
              <a:endParaRPr lang="en-UA" dirty="0"/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AE8F0071-DB23-6464-2CCA-485299626D68}"/>
                </a:ext>
              </a:extLst>
            </p:cNvPr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Freeform 10">
            <a:extLst>
              <a:ext uri="{FF2B5EF4-FFF2-40B4-BE49-F238E27FC236}">
                <a16:creationId xmlns:a16="http://schemas.microsoft.com/office/drawing/2014/main" id="{44ADCD2E-392B-3001-22FF-6B23B996832F}"/>
              </a:ext>
            </a:extLst>
          </p:cNvPr>
          <p:cNvSpPr/>
          <p:nvPr/>
        </p:nvSpPr>
        <p:spPr>
          <a:xfrm>
            <a:off x="517138" y="7833656"/>
            <a:ext cx="1921262" cy="1921262"/>
          </a:xfrm>
          <a:custGeom>
            <a:avLst/>
            <a:gdLst/>
            <a:ahLst/>
            <a:cxnLst/>
            <a:rect l="l" t="t" r="r" b="b"/>
            <a:pathLst>
              <a:path w="2249218" h="2249218">
                <a:moveTo>
                  <a:pt x="0" y="0"/>
                </a:moveTo>
                <a:lnTo>
                  <a:pt x="2249218" y="0"/>
                </a:lnTo>
                <a:lnTo>
                  <a:pt x="2249218" y="2249218"/>
                </a:lnTo>
                <a:lnTo>
                  <a:pt x="0" y="2249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2578</Words>
  <Application>Microsoft Macintosh PowerPoint</Application>
  <PresentationFormat>Custom</PresentationFormat>
  <Paragraphs>319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Century Gothic Paneuropean</vt:lpstr>
      <vt:lpstr>Century Gothic Paneuropean Bold</vt:lpstr>
      <vt:lpstr>Arial</vt:lpstr>
      <vt:lpstr>Open Sans Bold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Дослідження методів штучного інтелекту для                                               побудови адаптивних траєкторій навчання в умовах дистанційної освіти</dc:title>
  <cp:lastModifiedBy>Анна Бондаренко</cp:lastModifiedBy>
  <cp:revision>2</cp:revision>
  <dcterms:created xsi:type="dcterms:W3CDTF">2006-08-16T00:00:00Z</dcterms:created>
  <dcterms:modified xsi:type="dcterms:W3CDTF">2026-05-12T21:44:04Z</dcterms:modified>
  <dc:identifier>DAHImQj8lpM</dc:identifier>
</cp:coreProperties>
</file>